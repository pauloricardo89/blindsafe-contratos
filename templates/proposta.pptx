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378EB5-88A4-42E7-AFC1-6CA640D4CBEF}" v="2" dt="2026-06-28T14:54:01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70" d="100"/>
          <a:sy n="170" d="100"/>
        </p:scale>
        <p:origin x="-590" y="-83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o Ricardo" userId="cb452491663e6e9a" providerId="LiveId" clId="{AA48573D-714E-4ABD-867E-41884C69033F}"/>
    <pc:docChg chg="undo custSel modSld">
      <pc:chgData name="Paulo Ricardo" userId="cb452491663e6e9a" providerId="LiveId" clId="{AA48573D-714E-4ABD-867E-41884C69033F}" dt="2026-06-28T14:58:33.606" v="148" actId="255"/>
      <pc:docMkLst>
        <pc:docMk/>
      </pc:docMkLst>
      <pc:sldChg chg="modSp mod">
        <pc:chgData name="Paulo Ricardo" userId="cb452491663e6e9a" providerId="LiveId" clId="{AA48573D-714E-4ABD-867E-41884C69033F}" dt="2026-06-28T14:44:33.570" v="0" actId="1076"/>
        <pc:sldMkLst>
          <pc:docMk/>
          <pc:sldMk cId="0" sldId="258"/>
        </pc:sldMkLst>
        <pc:spChg chg="mod">
          <ac:chgData name="Paulo Ricardo" userId="cb452491663e6e9a" providerId="LiveId" clId="{AA48573D-714E-4ABD-867E-41884C69033F}" dt="2026-06-28T14:44:33.570" v="0" actId="1076"/>
          <ac:spMkLst>
            <pc:docMk/>
            <pc:sldMk cId="0" sldId="258"/>
            <ac:spMk id="28" creationId="{00000000-0000-0000-0000-000000000000}"/>
          </ac:spMkLst>
        </pc:spChg>
      </pc:sldChg>
      <pc:sldChg chg="delSp modSp mod">
        <pc:chgData name="Paulo Ricardo" userId="cb452491663e6e9a" providerId="LiveId" clId="{AA48573D-714E-4ABD-867E-41884C69033F}" dt="2026-06-28T14:58:33.606" v="148" actId="255"/>
        <pc:sldMkLst>
          <pc:docMk/>
          <pc:sldMk cId="0" sldId="260"/>
        </pc:sldMkLst>
        <pc:spChg chg="mod">
          <ac:chgData name="Paulo Ricardo" userId="cb452491663e6e9a" providerId="LiveId" clId="{AA48573D-714E-4ABD-867E-41884C69033F}" dt="2026-06-28T14:46:23.655" v="3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6:12.662" v="2" actId="1076"/>
          <ac:spMkLst>
            <pc:docMk/>
            <pc:sldMk cId="0" sldId="260"/>
            <ac:spMk id="7" creationId="{00000000-0000-0000-0000-000000000000}"/>
          </ac:spMkLst>
        </pc:spChg>
        <pc:spChg chg="del">
          <ac:chgData name="Paulo Ricardo" userId="cb452491663e6e9a" providerId="LiveId" clId="{AA48573D-714E-4ABD-867E-41884C69033F}" dt="2026-06-28T14:45:43.646" v="1" actId="478"/>
          <ac:spMkLst>
            <pc:docMk/>
            <pc:sldMk cId="0" sldId="260"/>
            <ac:spMk id="8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22.826" v="5" actId="14100"/>
          <ac:spMkLst>
            <pc:docMk/>
            <pc:sldMk cId="0" sldId="260"/>
            <ac:spMk id="11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8:19.343" v="8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41.652" v="6" actId="1410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56.500" v="7" actId="107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0:05.205" v="26" actId="20577"/>
          <ac:spMkLst>
            <pc:docMk/>
            <pc:sldMk cId="0" sldId="260"/>
            <ac:spMk id="26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0:58.514" v="35" actId="20577"/>
          <ac:spMkLst>
            <pc:docMk/>
            <pc:sldMk cId="0" sldId="260"/>
            <ac:spMk id="29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8:33.606" v="148" actId="255"/>
          <ac:spMkLst>
            <pc:docMk/>
            <pc:sldMk cId="0" sldId="260"/>
            <ac:spMk id="3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651760" y="-2743200"/>
            <a:ext cx="7772400" cy="7772400"/>
          </a:xfrm>
          <a:prstGeom prst="ellipse">
            <a:avLst/>
          </a:prstGeom>
          <a:solidFill>
            <a:srgbClr val="25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61872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57200"/>
            <a:ext cx="45720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 spc="500">
                <a:solidFill>
                  <a:srgbClr val="C9A84C"/>
                </a:solidFill>
                <a:latin typeface="Calibri"/>
              </a:rPr>
              <a:t>BLIND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86968"/>
            <a:ext cx="4572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 spc="250">
                <a:solidFill>
                  <a:srgbClr val="8899AA"/>
                </a:solidFill>
                <a:latin typeface="Calibri"/>
              </a:rPr>
              <a:t>SOLUÇÕES FINANCEIRAS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103120"/>
            <a:ext cx="6793992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0" i="0">
                <a:solidFill>
                  <a:srgbClr val="FFFFFF"/>
                </a:solidFill>
                <a:latin typeface="Georgia"/>
              </a:rPr>
              <a:t>Proposta de</a:t>
            </a:r>
          </a:p>
          <a:p>
            <a:pPr algn="l">
              <a:spcBef>
                <a:spcPts val="200"/>
              </a:spcBef>
            </a:pPr>
            <a:r>
              <a:rPr sz="4400" b="1" i="0">
                <a:solidFill>
                  <a:srgbClr val="C9A84C"/>
                </a:solidFill>
                <a:latin typeface="Georgia"/>
              </a:rPr>
              <a:t>Solução</a:t>
            </a:r>
          </a:p>
          <a:p>
            <a:pPr algn="l">
              <a:spcBef>
                <a:spcPts val="200"/>
              </a:spcBef>
            </a:pPr>
            <a:r>
              <a:rPr sz="4400" b="0" i="0">
                <a:solidFill>
                  <a:srgbClr val="FFFFFF"/>
                </a:solidFill>
                <a:latin typeface="Georgia"/>
              </a:rPr>
              <a:t>Financeira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572000"/>
            <a:ext cx="12801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4919472"/>
            <a:ext cx="6793992" cy="46634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4919472"/>
            <a:ext cx="50292" cy="4663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5102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SOLICITANTE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39496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{{SOLICITANTE_NOME}}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79729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{{SOLICITANTE_EMPRESA}}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236208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6382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ASSUNTO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66934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8899AA"/>
                </a:solidFill>
                <a:latin typeface="Calibri"/>
              </a:rPr>
              <a:t>{{ASSUNTO}}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713232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727862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7571231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{{DATA_PROPOSTA}}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832104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85039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Estamos à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 Nossa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pronta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iniciar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imediatamente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confirmação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Sobre Nosso Escritório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8899AA"/>
                </a:solidFill>
                <a:latin typeface="Calibri"/>
              </a:rPr>
              <a:t>Especialistas em Direito do Consumidor e soluções financeiras.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03504" y="1892807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055875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72768" y="1828800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Excelência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Técnica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72768" y="2258568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834639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Fundamentamos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estratégia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sólido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conhecimento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jurídico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complexos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4279392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4279392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03504" y="4599431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62" y="480060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2768" y="4535424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Profissional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72768" y="4965192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Atuamos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com total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responsabilidade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garantindo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que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decisão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esteja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alinhada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melhores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6986016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6986016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3504" y="7306055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7507224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72768" y="7242048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0D1B3E"/>
                </a:solidFill>
                <a:latin typeface="Georgia"/>
              </a:rPr>
              <a:t>Foco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em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Resultados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572768" y="7671816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8247888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5A6070"/>
                </a:solidFill>
                <a:latin typeface="Calibri"/>
              </a:rPr>
              <a:t>Nosso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compromisso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é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encontrar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a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solução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reduzindo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encargos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assegurando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plenamente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840480" y="-2286000"/>
            <a:ext cx="5943600" cy="59436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12344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 spc="100">
                <a:solidFill>
                  <a:srgbClr val="0D1B3E"/>
                </a:solidFill>
                <a:latin typeface="Calibri"/>
              </a:rPr>
              <a:t>SEU 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Entendemos a</a:t>
            </a:r>
          </a:p>
          <a:p>
            <a:pPr algn="l">
              <a:spcBef>
                <a:spcPts val="2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Sua Situação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212848"/>
            <a:ext cx="67939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8899AA"/>
                </a:solidFill>
                <a:latin typeface="Calibri"/>
              </a:rPr>
              <a:t>Assessoria financeira combativa e humanizada.</a:t>
            </a:r>
          </a:p>
        </p:txBody>
      </p:sp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822960"/>
            <a:ext cx="1920240" cy="1920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2633472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048" y="2816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816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980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TIPO DE 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790" y="3355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{{ASSUNTO}}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" y="5102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5266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PARTES ENVOLVIDAS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68756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Georgia"/>
              </a:rPr>
              <a:t>{{PARTES_LISTADAS}}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5332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{{PARTES_S3_CLEAR}}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7388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4048" y="7388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7552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OBJETIVO JURÍDICO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7927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Defesa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estratégica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perante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a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instituição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credora</a:t>
            </a:r>
            <a:endParaRPr sz="20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8590788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Visando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
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regularização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situação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financeira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6680000"/>
            <a:ext cx="6400800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6740000"/>
            <a:ext cx="64008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8899AA"/>
                </a:solidFill>
              </a:rPr>
              <a:t>VALOR TOTAL DA CAUSA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883196"/>
            <a:ext cx="64008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rgbClr val="E5CC7A"/>
                </a:solidFill>
              </a:rPr>
              <a:t>{{VALOR_CAUSA}}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Nossa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Cada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desenhada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resultado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08960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84048" y="1709928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709928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572768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70992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84831" y="1719072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Análise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do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Contrato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2231136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Estudo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aprofundado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cláusulas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condições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caso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736592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84048" y="3337560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337560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200400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3339084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84831" y="3346704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Estratégia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08760" y="3858768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Criação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plano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contrapropostas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64224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4048" y="4965192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4965192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28032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4937760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084831" y="4974336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Assessoria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508760" y="5486400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fases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defender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7991856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4048" y="659282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6592824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6455664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1" y="6588590"/>
            <a:ext cx="438912" cy="4389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1" y="6601968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com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Credor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08760" y="7114031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direta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com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instituição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Oval 33"/>
          <p:cNvSpPr/>
          <p:nvPr/>
        </p:nvSpPr>
        <p:spPr>
          <a:xfrm>
            <a:off x="384048" y="822045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8220456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8083296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9776" y="8161020"/>
            <a:ext cx="438912" cy="4389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084831" y="8229600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8741664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tempo real.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0000"/>
            <a:ext cx="7562850" cy="1068863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000"/>
            <a:ext cx="6793992" cy="4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Seu Investimento </a:t>
            </a:r>
            <a:r>
              <a:rPr sz="2600" b="1" i="0" dirty="0" err="1">
                <a:solidFill>
                  <a:srgbClr val="FFFFFF"/>
                </a:solidFill>
              </a:rPr>
              <a:t>em</a:t>
            </a:r>
            <a:r>
              <a:rPr sz="2600" b="1" i="0" dirty="0">
                <a:solidFill>
                  <a:srgbClr val="FFFFFF"/>
                </a:solidFill>
              </a:rPr>
              <a:t> </a:t>
            </a:r>
            <a:r>
              <a:rPr sz="2600" b="1" i="0" dirty="0" err="1">
                <a:solidFill>
                  <a:srgbClr val="FFFFFF"/>
                </a:solidFill>
              </a:rPr>
              <a:t>Perspectiva</a:t>
            </a:r>
            <a:endParaRPr sz="2600"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100" b="0" i="1" dirty="0" err="1">
                <a:solidFill>
                  <a:srgbClr val="E5CC7A"/>
                </a:solidFill>
              </a:rPr>
              <a:t>Transparência</a:t>
            </a:r>
            <a:r>
              <a:rPr sz="1100" b="0" i="1" dirty="0">
                <a:solidFill>
                  <a:srgbClr val="E5CC7A"/>
                </a:solidFill>
              </a:rPr>
              <a:t> total. </a:t>
            </a:r>
            <a:r>
              <a:rPr sz="1100" b="0" i="1" dirty="0" err="1">
                <a:solidFill>
                  <a:srgbClr val="E5CC7A"/>
                </a:solidFill>
              </a:rPr>
              <a:t>Honorários</a:t>
            </a:r>
            <a:r>
              <a:rPr sz="1100" b="0" i="1" dirty="0">
                <a:solidFill>
                  <a:srgbClr val="E5CC7A"/>
                </a:solidFill>
              </a:rPr>
              <a:t> </a:t>
            </a:r>
            <a:r>
              <a:rPr sz="1100" b="0" i="1" dirty="0" err="1">
                <a:solidFill>
                  <a:srgbClr val="E5CC7A"/>
                </a:solidFill>
              </a:rPr>
              <a:t>justos</a:t>
            </a:r>
            <a:r>
              <a:rPr sz="1100" b="0" i="1" dirty="0">
                <a:solidFill>
                  <a:srgbClr val="E5CC7A"/>
                </a:solidFill>
              </a:rPr>
              <a:t>. Sem </a:t>
            </a:r>
            <a:r>
              <a:rPr sz="1100" b="0" i="1" dirty="0" err="1">
                <a:solidFill>
                  <a:srgbClr val="E5CC7A"/>
                </a:solidFill>
              </a:rPr>
              <a:t>surpresas</a:t>
            </a:r>
            <a:r>
              <a:rPr sz="1100" b="0" i="1" dirty="0">
                <a:solidFill>
                  <a:srgbClr val="E5CC7A"/>
                </a:solidFill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740600"/>
            <a:ext cx="6793992" cy="590626"/>
          </a:xfrm>
          <a:prstGeom prst="rect">
            <a:avLst/>
          </a:prstGeom>
          <a:solidFill>
            <a:srgbClr val="182D56"/>
          </a:solidFill>
          <a:ln w="180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4048" y="776979"/>
            <a:ext cx="6613992" cy="1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 dirty="0">
                <a:solidFill>
                  <a:srgbClr val="8899AA"/>
                </a:solidFill>
              </a:rPr>
              <a:t>VALOR TOTAL DA CAUSA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048" y="871979"/>
            <a:ext cx="6393992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>
                <a:solidFill>
                  <a:srgbClr val="C9A84C"/>
                </a:solidFill>
              </a:rPr>
              <a:t>{{VALOR_CAUSA}}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340000"/>
            <a:ext cx="6793992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419400"/>
            <a:ext cx="6793992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 dirty="0">
                <a:solidFill>
                  <a:srgbClr val="8899AA"/>
                </a:solidFill>
              </a:rPr>
              <a:t>NOSSOS HONORÁRIOS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580000"/>
            <a:ext cx="3296996" cy="1106000"/>
          </a:xfrm>
          <a:prstGeom prst="rect">
            <a:avLst/>
          </a:prstGeom>
          <a:solidFill>
            <a:srgbClr val="132447"/>
          </a:solidFill>
          <a:ln w="1200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048" y="1660000"/>
            <a:ext cx="3136996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</a:rPr>
              <a:t>OPÇÃO 01</a:t>
            </a:r>
          </a:p>
          <a:p>
            <a:pPr algn="l">
              <a:spcBef>
                <a:spcPts val="400"/>
              </a:spcBef>
            </a:pPr>
            <a:r>
              <a:rPr sz="1300" b="1" i="0" dirty="0" err="1">
                <a:solidFill>
                  <a:srgbClr val="FFFFFF"/>
                </a:solidFill>
              </a:rPr>
              <a:t>Boleto</a:t>
            </a:r>
            <a:r>
              <a:rPr sz="1300" b="1" i="0" dirty="0">
                <a:solidFill>
                  <a:srgbClr val="FFFFFF"/>
                </a:solidFill>
              </a:rPr>
              <a:t> </a:t>
            </a:r>
            <a:r>
              <a:rPr sz="1300" b="1" i="0" dirty="0" err="1">
                <a:solidFill>
                  <a:srgbClr val="FFFFFF"/>
                </a:solidFill>
              </a:rPr>
              <a:t>Bancário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4048" y="1910000"/>
            <a:ext cx="3136996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 dirty="0">
                <a:solidFill>
                  <a:srgbClr val="E5CC7A"/>
                </a:solidFill>
              </a:rPr>
              <a:t>{{PERC_OP1}}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048" y="2376042"/>
            <a:ext cx="3136996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8899AA"/>
                </a:solidFill>
              </a:rPr>
              <a:t>do valor total da causa</a:t>
            </a:r>
          </a:p>
          <a:p>
            <a:pPr algn="l">
              <a:spcBef>
                <a:spcPts val="300"/>
              </a:spcBef>
            </a:pPr>
            <a:r>
              <a:rPr sz="800" b="0" i="1" dirty="0" err="1">
                <a:solidFill>
                  <a:srgbClr val="8899AA"/>
                </a:solidFill>
              </a:rPr>
              <a:t>Parcelado</a:t>
            </a:r>
            <a:r>
              <a:rPr sz="800" b="0" i="1" dirty="0">
                <a:solidFill>
                  <a:srgbClr val="8899AA"/>
                </a:solidFill>
              </a:rPr>
              <a:t> com entrada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1044" y="1580000"/>
            <a:ext cx="3296996" cy="1096000"/>
          </a:xfrm>
          <a:prstGeom prst="rect">
            <a:avLst/>
          </a:prstGeom>
          <a:solidFill>
            <a:srgbClr val="132447"/>
          </a:solidFill>
          <a:ln w="1200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61044" y="1660000"/>
            <a:ext cx="3136996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</a:rPr>
              <a:t>OPÇÃO 02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FFFFFF"/>
                </a:solidFill>
              </a:rPr>
              <a:t>Cartão de Crédito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044" y="1910000"/>
            <a:ext cx="3136996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 dirty="0">
                <a:solidFill>
                  <a:srgbClr val="E5CC7A"/>
                </a:solidFill>
              </a:rPr>
              <a:t>{{PERC_OP2_AV}}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6044" y="2363612"/>
            <a:ext cx="3136996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8899AA"/>
                </a:solidFill>
              </a:rPr>
              <a:t>do valor total da causa</a:t>
            </a:r>
          </a:p>
          <a:p>
            <a:pPr algn="l">
              <a:spcBef>
                <a:spcPts val="300"/>
              </a:spcBef>
            </a:pPr>
            <a:r>
              <a:rPr sz="800" b="0" i="1" dirty="0">
                <a:solidFill>
                  <a:srgbClr val="8899AA"/>
                </a:solidFill>
              </a:rPr>
              <a:t>À vista no </a:t>
            </a:r>
            <a:r>
              <a:rPr sz="800" b="0" i="1" dirty="0" err="1">
                <a:solidFill>
                  <a:srgbClr val="8899AA"/>
                </a:solidFill>
              </a:rPr>
              <a:t>cartão</a:t>
            </a:r>
            <a:r>
              <a:rPr sz="800" b="0" i="1" dirty="0">
                <a:solidFill>
                  <a:srgbClr val="8899AA"/>
                </a:solidFill>
              </a:rPr>
              <a:t>, </a:t>
            </a:r>
            <a:r>
              <a:rPr sz="800" b="0" i="1" dirty="0" err="1">
                <a:solidFill>
                  <a:srgbClr val="8899AA"/>
                </a:solidFill>
              </a:rPr>
              <a:t>parcelado</a:t>
            </a:r>
            <a:r>
              <a:rPr sz="800" b="0" i="1" dirty="0">
                <a:solidFill>
                  <a:srgbClr val="8899AA"/>
                </a:solidFill>
              </a:rPr>
              <a:t> </a:t>
            </a:r>
            <a:r>
              <a:rPr sz="800" b="0" i="1" dirty="0" err="1">
                <a:solidFill>
                  <a:srgbClr val="8899AA"/>
                </a:solidFill>
              </a:rPr>
              <a:t>sem</a:t>
            </a:r>
            <a:r>
              <a:rPr sz="800" b="0" i="1" dirty="0">
                <a:solidFill>
                  <a:srgbClr val="8899AA"/>
                </a:solidFill>
              </a:rPr>
              <a:t> </a:t>
            </a:r>
            <a:r>
              <a:rPr sz="800" b="0" i="1" dirty="0" err="1">
                <a:solidFill>
                  <a:srgbClr val="8899AA"/>
                </a:solidFill>
              </a:rPr>
              <a:t>juros</a:t>
            </a:r>
            <a:endParaRPr sz="800" b="0" i="1" dirty="0">
              <a:solidFill>
                <a:srgbClr val="8899AA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4048" y="2740000"/>
            <a:ext cx="6793992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" y="2820000"/>
            <a:ext cx="679399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 dirty="0">
                <a:solidFill>
                  <a:srgbClr val="FFFFFF"/>
                </a:solidFill>
              </a:rPr>
              <a:t>Por </a:t>
            </a:r>
            <a:r>
              <a:rPr sz="1700" b="1" i="0" dirty="0" err="1">
                <a:solidFill>
                  <a:srgbClr val="FFFFFF"/>
                </a:solidFill>
              </a:rPr>
              <a:t>que</a:t>
            </a:r>
            <a:r>
              <a:rPr sz="1700" b="1" i="0" dirty="0">
                <a:solidFill>
                  <a:srgbClr val="FFFFFF"/>
                </a:solidFill>
              </a:rPr>
              <a:t> a </a:t>
            </a:r>
            <a:r>
              <a:rPr sz="1700" b="1" i="0" dirty="0" err="1">
                <a:solidFill>
                  <a:srgbClr val="FFFFFF"/>
                </a:solidFill>
              </a:rPr>
              <a:t>BlindSafe</a:t>
            </a:r>
            <a:r>
              <a:rPr sz="1700" b="1" i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13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316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182D56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446" y="316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 err="1">
                <a:solidFill>
                  <a:srgbClr val="FFFFFF"/>
                </a:solidFill>
              </a:rPr>
              <a:t>Honorários</a:t>
            </a:r>
            <a:r>
              <a:rPr b="1" i="0" dirty="0">
                <a:solidFill>
                  <a:srgbClr val="FFFFFF"/>
                </a:solidFill>
              </a:rPr>
              <a:t> </a:t>
            </a:r>
            <a:r>
              <a:rPr b="1" i="0" dirty="0" err="1">
                <a:solidFill>
                  <a:srgbClr val="FFFFFF"/>
                </a:solidFill>
              </a:rPr>
              <a:t>abaixo</a:t>
            </a:r>
            <a:r>
              <a:rPr b="1" i="0" dirty="0">
                <a:solidFill>
                  <a:srgbClr val="FFFFFF"/>
                </a:solidFill>
              </a:rPr>
              <a:t> de 10%</a:t>
            </a:r>
          </a:p>
          <a:p>
            <a:pPr algn="l">
              <a:spcBef>
                <a:spcPts val="600"/>
              </a:spcBef>
            </a:pPr>
            <a:r>
              <a:rPr sz="1400" b="0" i="1" dirty="0" err="1">
                <a:solidFill>
                  <a:srgbClr val="E5CC7A"/>
                </a:solidFill>
              </a:rPr>
              <a:t>Enquanto</a:t>
            </a:r>
            <a:r>
              <a:rPr sz="1400" b="0" i="1" dirty="0">
                <a:solidFill>
                  <a:srgbClr val="E5CC7A"/>
                </a:solidFill>
              </a:rPr>
              <a:t> outros </a:t>
            </a:r>
            <a:r>
              <a:rPr sz="1400" b="0" i="1" dirty="0" err="1">
                <a:solidFill>
                  <a:srgbClr val="E5CC7A"/>
                </a:solidFill>
              </a:rPr>
              <a:t>cobram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até</a:t>
            </a:r>
            <a:r>
              <a:rPr sz="1400" b="0" i="1" dirty="0">
                <a:solidFill>
                  <a:srgbClr val="E5CC7A"/>
                </a:solidFill>
              </a:rPr>
              <a:t> 30% do valor da causa</a:t>
            </a:r>
          </a:p>
          <a:p>
            <a:pPr algn="l">
              <a:spcBef>
                <a:spcPts val="1000"/>
              </a:spcBef>
            </a:pPr>
            <a:r>
              <a:rPr sz="1400" b="0" i="0" dirty="0">
                <a:solidFill>
                  <a:srgbClr val="8899AA"/>
                </a:solidFill>
              </a:rPr>
              <a:t>Na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dificilmente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nossos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honorários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ultrapassam</a:t>
            </a:r>
            <a:r>
              <a:rPr sz="1400" b="0" i="0" dirty="0">
                <a:solidFill>
                  <a:srgbClr val="8899AA"/>
                </a:solidFill>
              </a:rPr>
              <a:t> 10% do valor total da causa. Somos </a:t>
            </a:r>
            <a:r>
              <a:rPr sz="1400" b="0" i="0" dirty="0" err="1">
                <a:solidFill>
                  <a:srgbClr val="8899AA"/>
                </a:solidFill>
              </a:rPr>
              <a:t>eficientes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porque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nosso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objetivo</a:t>
            </a:r>
            <a:r>
              <a:rPr sz="1400" b="0" i="0" dirty="0">
                <a:solidFill>
                  <a:srgbClr val="8899AA"/>
                </a:solidFill>
              </a:rPr>
              <a:t> é resolver, e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prolongar</a:t>
            </a:r>
            <a:r>
              <a:rPr sz="1400" b="0" i="0" dirty="0">
                <a:solidFill>
                  <a:srgbClr val="8899AA"/>
                </a:solidFill>
              </a:rPr>
              <a:t>. Outros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chegam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cobrar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até</a:t>
            </a:r>
            <a:r>
              <a:rPr sz="1400" b="0" i="0" dirty="0">
                <a:solidFill>
                  <a:srgbClr val="8899AA"/>
                </a:solidFill>
              </a:rPr>
              <a:t> 30%, </a:t>
            </a:r>
            <a:r>
              <a:rPr sz="1400" b="0" i="0" dirty="0" err="1">
                <a:solidFill>
                  <a:srgbClr val="8899AA"/>
                </a:solidFill>
              </a:rPr>
              <a:t>gerando</a:t>
            </a:r>
            <a:r>
              <a:rPr sz="1400" b="0" i="0" dirty="0">
                <a:solidFill>
                  <a:srgbClr val="8899AA"/>
                </a:solidFill>
              </a:rPr>
              <a:t> um </a:t>
            </a:r>
            <a:r>
              <a:rPr sz="1400" b="0" i="0" dirty="0" err="1">
                <a:solidFill>
                  <a:srgbClr val="8899AA"/>
                </a:solidFill>
              </a:rPr>
              <a:t>custo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enorme</a:t>
            </a:r>
            <a:r>
              <a:rPr sz="1400" b="0" i="0" dirty="0">
                <a:solidFill>
                  <a:srgbClr val="8899AA"/>
                </a:solidFill>
              </a:rPr>
              <a:t> para o </a:t>
            </a:r>
            <a:r>
              <a:rPr sz="1400" b="0" i="0" dirty="0" err="1">
                <a:solidFill>
                  <a:srgbClr val="8899AA"/>
                </a:solidFill>
              </a:rPr>
              <a:t>cliente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500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" y="503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182D56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048" y="500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Sem taxa de </a:t>
            </a:r>
            <a:r>
              <a:rPr b="1" i="0" dirty="0" err="1">
                <a:solidFill>
                  <a:srgbClr val="FFFFFF"/>
                </a:solidFill>
              </a:rPr>
              <a:t>manutenção</a:t>
            </a:r>
            <a:endParaRPr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400" b="0" i="1" dirty="0" err="1">
                <a:solidFill>
                  <a:srgbClr val="E5CC7A"/>
                </a:solidFill>
              </a:rPr>
              <a:t>Nenhuma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cobrança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lang="pt-BR" sz="1400" i="1" dirty="0">
                <a:solidFill>
                  <a:srgbClr val="E5CC7A"/>
                </a:solidFill>
              </a:rPr>
              <a:t>além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lang="pt-BR" sz="1400" b="0" i="1" dirty="0">
                <a:solidFill>
                  <a:srgbClr val="E5CC7A"/>
                </a:solidFill>
              </a:rPr>
              <a:t>dos honorários </a:t>
            </a:r>
            <a:r>
              <a:rPr sz="1400" b="0" i="1" dirty="0">
                <a:solidFill>
                  <a:srgbClr val="E5CC7A"/>
                </a:solidFill>
              </a:rPr>
              <a:t>para </a:t>
            </a:r>
            <a:r>
              <a:rPr sz="1400" b="0" i="1" dirty="0" err="1">
                <a:solidFill>
                  <a:srgbClr val="E5CC7A"/>
                </a:solidFill>
              </a:rPr>
              <a:t>continuar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trabalhando</a:t>
            </a:r>
            <a:r>
              <a:rPr sz="1400" b="0" i="1" dirty="0">
                <a:solidFill>
                  <a:srgbClr val="E5CC7A"/>
                </a:solidFill>
              </a:rPr>
              <a:t> no </a:t>
            </a:r>
            <a:r>
              <a:rPr sz="1400" b="0" i="1" dirty="0" err="1">
                <a:solidFill>
                  <a:srgbClr val="E5CC7A"/>
                </a:solidFill>
              </a:rPr>
              <a:t>seu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caso</a:t>
            </a:r>
            <a:endParaRPr sz="1400" b="0" i="1" dirty="0">
              <a:solidFill>
                <a:srgbClr val="E5CC7A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0" i="0" dirty="0" err="1">
                <a:solidFill>
                  <a:srgbClr val="8899AA"/>
                </a:solidFill>
              </a:rPr>
              <a:t>Diferentemente</a:t>
            </a:r>
            <a:r>
              <a:rPr sz="1400" b="0" i="0" dirty="0">
                <a:solidFill>
                  <a:srgbClr val="8899AA"/>
                </a:solidFill>
              </a:rPr>
              <a:t> de </a:t>
            </a:r>
            <a:r>
              <a:rPr sz="1400" b="0" i="0" dirty="0" err="1">
                <a:solidFill>
                  <a:srgbClr val="8899AA"/>
                </a:solidFill>
              </a:rPr>
              <a:t>muitos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, 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cobra </a:t>
            </a:r>
            <a:r>
              <a:rPr sz="1400" b="0" i="0" dirty="0" err="1">
                <a:solidFill>
                  <a:srgbClr val="8899AA"/>
                </a:solidFill>
              </a:rPr>
              <a:t>taxas</a:t>
            </a:r>
            <a:r>
              <a:rPr sz="1400" b="0" i="0" dirty="0">
                <a:solidFill>
                  <a:srgbClr val="8899AA"/>
                </a:solidFill>
              </a:rPr>
              <a:t> de </a:t>
            </a:r>
            <a:r>
              <a:rPr sz="1400" b="0" i="0" dirty="0" err="1">
                <a:solidFill>
                  <a:srgbClr val="8899AA"/>
                </a:solidFill>
              </a:rPr>
              <a:t>manutenção</a:t>
            </a:r>
            <a:r>
              <a:rPr sz="1400" b="0" i="0" dirty="0">
                <a:solidFill>
                  <a:srgbClr val="8899AA"/>
                </a:solidFill>
              </a:rPr>
              <a:t>. Uma </a:t>
            </a:r>
            <a:r>
              <a:rPr sz="1400" b="0" i="0" dirty="0" err="1">
                <a:solidFill>
                  <a:srgbClr val="8899AA"/>
                </a:solidFill>
              </a:rPr>
              <a:t>vez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contratados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trabalhamos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até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conclusão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sem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cobranças</a:t>
            </a:r>
            <a:r>
              <a:rPr sz="1400" b="0" i="0" dirty="0">
                <a:solidFill>
                  <a:srgbClr val="8899AA"/>
                </a:solidFill>
              </a:rPr>
              <a:t> extras</a:t>
            </a:r>
            <a:r>
              <a:rPr lang="pt-BR" sz="1400" b="0" i="0" dirty="0">
                <a:solidFill>
                  <a:srgbClr val="8899AA"/>
                </a:solidFill>
              </a:rPr>
              <a:t> de honorários</a:t>
            </a:r>
            <a:r>
              <a:rPr sz="1400" b="0" i="0" dirty="0">
                <a:solidFill>
                  <a:srgbClr val="8899AA"/>
                </a:solidFill>
              </a:rPr>
              <a:t>. </a:t>
            </a:r>
            <a:r>
              <a:rPr sz="1400" b="0" i="0" dirty="0" err="1">
                <a:solidFill>
                  <a:srgbClr val="8899AA"/>
                </a:solidFill>
              </a:rPr>
              <a:t>Nosso</a:t>
            </a:r>
            <a:r>
              <a:rPr sz="1400" b="0" i="0" dirty="0">
                <a:solidFill>
                  <a:srgbClr val="8899AA"/>
                </a:solidFill>
              </a:rPr>
              <a:t> interesse é resolver o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problema</a:t>
            </a:r>
            <a:r>
              <a:rPr sz="1400" b="0" i="0" dirty="0">
                <a:solidFill>
                  <a:srgbClr val="8899AA"/>
                </a:solidFill>
              </a:rPr>
              <a:t> o </a:t>
            </a:r>
            <a:r>
              <a:rPr sz="1400" b="0" i="0" dirty="0" err="1">
                <a:solidFill>
                  <a:srgbClr val="8899AA"/>
                </a:solidFill>
              </a:rPr>
              <a:t>mais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rápido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possível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687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690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182D56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048" y="687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Sem </a:t>
            </a:r>
            <a:r>
              <a:rPr b="1" i="0" dirty="0" err="1">
                <a:solidFill>
                  <a:srgbClr val="FFFFFF"/>
                </a:solidFill>
              </a:rPr>
              <a:t>cobrança</a:t>
            </a:r>
            <a:r>
              <a:rPr b="1" i="0" dirty="0">
                <a:solidFill>
                  <a:srgbClr val="FFFFFF"/>
                </a:solidFill>
              </a:rPr>
              <a:t> </a:t>
            </a:r>
            <a:r>
              <a:rPr b="1" i="0" dirty="0" err="1">
                <a:solidFill>
                  <a:srgbClr val="FFFFFF"/>
                </a:solidFill>
              </a:rPr>
              <a:t>sobre</a:t>
            </a:r>
            <a:r>
              <a:rPr b="1" i="0" dirty="0">
                <a:solidFill>
                  <a:srgbClr val="FFFFFF"/>
                </a:solidFill>
              </a:rPr>
              <a:t> a </a:t>
            </a:r>
            <a:r>
              <a:rPr b="1" i="0" dirty="0" err="1">
                <a:solidFill>
                  <a:srgbClr val="FFFFFF"/>
                </a:solidFill>
              </a:rPr>
              <a:t>redução</a:t>
            </a:r>
            <a:r>
              <a:rPr b="1" i="0" dirty="0">
                <a:solidFill>
                  <a:srgbClr val="FFFFFF"/>
                </a:solidFill>
              </a:rPr>
              <a:t> da </a:t>
            </a:r>
            <a:r>
              <a:rPr b="1" i="0" dirty="0" err="1">
                <a:solidFill>
                  <a:srgbClr val="FFFFFF"/>
                </a:solidFill>
              </a:rPr>
              <a:t>dívida</a:t>
            </a:r>
            <a:endParaRPr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400" b="0" i="1" dirty="0">
                <a:solidFill>
                  <a:srgbClr val="E5CC7A"/>
                </a:solidFill>
              </a:rPr>
              <a:t>O </a:t>
            </a:r>
            <a:r>
              <a:rPr sz="1400" b="0" i="1" dirty="0" err="1">
                <a:solidFill>
                  <a:srgbClr val="E5CC7A"/>
                </a:solidFill>
              </a:rPr>
              <a:t>que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você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economizar</a:t>
            </a:r>
            <a:r>
              <a:rPr sz="1400" b="0" i="1" dirty="0">
                <a:solidFill>
                  <a:srgbClr val="E5CC7A"/>
                </a:solidFill>
              </a:rPr>
              <a:t> é </a:t>
            </a:r>
            <a:r>
              <a:rPr sz="1400" b="0" i="1" dirty="0" err="1">
                <a:solidFill>
                  <a:srgbClr val="E5CC7A"/>
                </a:solidFill>
              </a:rPr>
              <a:t>inteiramente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seu</a:t>
            </a:r>
            <a:endParaRPr sz="1400" b="0" i="1" dirty="0">
              <a:solidFill>
                <a:srgbClr val="E5CC7A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0" i="0" dirty="0">
                <a:solidFill>
                  <a:srgbClr val="8899AA"/>
                </a:solidFill>
              </a:rPr>
              <a:t>Ao final do </a:t>
            </a:r>
            <a:r>
              <a:rPr sz="1400" b="0" i="0" dirty="0" err="1">
                <a:solidFill>
                  <a:srgbClr val="8899AA"/>
                </a:solidFill>
              </a:rPr>
              <a:t>processo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cobramos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nenhum</a:t>
            </a:r>
            <a:r>
              <a:rPr sz="1400" b="0" i="0" dirty="0">
                <a:solidFill>
                  <a:srgbClr val="8899AA"/>
                </a:solidFill>
              </a:rPr>
              <a:t> percentual </a:t>
            </a:r>
            <a:r>
              <a:rPr sz="1400" b="0" i="0" dirty="0" err="1">
                <a:solidFill>
                  <a:srgbClr val="8899AA"/>
                </a:solidFill>
              </a:rPr>
              <a:t>sobre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redução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ou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quitação</a:t>
            </a:r>
            <a:r>
              <a:rPr sz="1400" b="0" i="0" dirty="0">
                <a:solidFill>
                  <a:srgbClr val="8899AA"/>
                </a:solidFill>
              </a:rPr>
              <a:t> da </a:t>
            </a:r>
            <a:r>
              <a:rPr sz="1400" b="0" i="0" dirty="0" err="1">
                <a:solidFill>
                  <a:srgbClr val="8899AA"/>
                </a:solidFill>
              </a:rPr>
              <a:t>dívida</a:t>
            </a:r>
            <a:r>
              <a:rPr sz="1400" b="0" i="0" dirty="0">
                <a:solidFill>
                  <a:srgbClr val="8899AA"/>
                </a:solidFill>
              </a:rPr>
              <a:t>. </a:t>
            </a:r>
            <a:r>
              <a:rPr sz="1400" b="0" i="0" dirty="0" err="1">
                <a:solidFill>
                  <a:srgbClr val="8899AA"/>
                </a:solidFill>
              </a:rPr>
              <a:t>Muitos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cobram</a:t>
            </a:r>
            <a:r>
              <a:rPr sz="1400" b="0" i="0" dirty="0">
                <a:solidFill>
                  <a:srgbClr val="8899AA"/>
                </a:solidFill>
              </a:rPr>
              <a:t> entre 20% a 30% do valor </a:t>
            </a:r>
            <a:r>
              <a:rPr sz="1400" b="0" i="0" dirty="0" err="1">
                <a:solidFill>
                  <a:srgbClr val="8899AA"/>
                </a:solidFill>
              </a:rPr>
              <a:t>economizado</a:t>
            </a:r>
            <a:r>
              <a:rPr lang="pt-BR" sz="1400" dirty="0">
                <a:solidFill>
                  <a:srgbClr val="8899AA"/>
                </a:solidFill>
              </a:rPr>
              <a:t>, sendo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uma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surpresa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desagradável</a:t>
            </a:r>
            <a:r>
              <a:rPr sz="1400" b="0" i="0" dirty="0">
                <a:solidFill>
                  <a:srgbClr val="8899AA"/>
                </a:solidFill>
              </a:rPr>
              <a:t> no final. Na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benefício</a:t>
            </a:r>
            <a:r>
              <a:rPr sz="1400" b="0" i="0" dirty="0">
                <a:solidFill>
                  <a:srgbClr val="8899AA"/>
                </a:solidFill>
              </a:rPr>
              <a:t> é 100%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8720000"/>
            <a:ext cx="6793992" cy="1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" y="8790000"/>
            <a:ext cx="6793992" cy="5437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b="0" i="1" dirty="0">
                <a:solidFill>
                  <a:srgbClr val="E5CC7A"/>
                </a:solidFill>
              </a:rPr>
              <a:t>"</a:t>
            </a:r>
            <a:r>
              <a:rPr lang="pt-BR" b="0" i="1" dirty="0">
                <a:solidFill>
                  <a:srgbClr val="E5CC7A"/>
                </a:solidFill>
              </a:rPr>
              <a:t>Sua tranquilidade é o nosso maior objetivo</a:t>
            </a:r>
            <a:r>
              <a:rPr b="0" i="1" dirty="0">
                <a:solidFill>
                  <a:srgbClr val="E5CC7A"/>
                </a:solidFill>
              </a:rPr>
              <a:t>"</a:t>
            </a:r>
          </a:p>
          <a:p>
            <a:pPr algn="ctr">
              <a:spcBef>
                <a:spcPts val="1000"/>
              </a:spcBef>
            </a:pPr>
            <a:r>
              <a:rPr sz="900" b="0" i="0" dirty="0">
                <a:solidFill>
                  <a:srgbClr val="8899AA"/>
                </a:solidFill>
              </a:rPr>
              <a:t>— Equipe </a:t>
            </a:r>
            <a:r>
              <a:rPr sz="900" b="0" i="0" dirty="0" err="1">
                <a:solidFill>
                  <a:srgbClr val="8899AA"/>
                </a:solidFill>
              </a:rPr>
              <a:t>BlindSafe</a:t>
            </a:r>
            <a:r>
              <a:rPr lang="pt-BR" sz="900" b="0" i="0" dirty="0">
                <a:solidFill>
                  <a:srgbClr val="8899AA"/>
                </a:solidFill>
              </a:rPr>
              <a:t> soluções financeiras </a:t>
            </a:r>
            <a:endParaRPr sz="900" b="0" i="0" dirty="0">
              <a:solidFill>
                <a:srgbClr val="8899AA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10341864"/>
            <a:ext cx="7562850" cy="1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4048" y="10371864"/>
            <a:ext cx="6793992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8899AA"/>
                </a:solidFill>
              </a:rPr>
              <a:t>BlindSafe Soluções Financeiras  |  contato@blindsafe.com.br  |  (21) 3437-5022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Opção 01 — Boleto Bancário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 dirty="0" err="1">
                <a:solidFill>
                  <a:srgbClr val="8899AA"/>
                </a:solidFill>
                <a:latin typeface="Calibri"/>
              </a:rPr>
              <a:t>Parcelamento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mensal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complicações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331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6793992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VALOR TOTAL DOS HONORÁRIOS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5943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Calibri"/>
              </a:rPr>
              <a:t>{{OP1_VALOR_TOTAL}}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943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Honorários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representação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dívida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judicial.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41605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048" y="41605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44165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7274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{{OP1_ENTRADA}}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53675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Para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início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imediato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trabalhos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4048" y="62179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62179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64739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PARCELAS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7848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{{OP1_PARCELAS}}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424927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Mensais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via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boleto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bancário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4048" y="82753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048" y="82753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8531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88422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{{OP1_VALOR_TOTAL}}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94823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Sem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juros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adicionais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 i="0">
                <a:solidFill>
                  <a:srgbClr val="8899AA"/>
                </a:solidFill>
                <a:latin typeface="Calibri"/>
              </a:rPr>
              <a:t>BlindSafe Soluções Financeiras  |  contato@blindsafe.com.br  |  (21) 3437-5022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340000"/>
            <a:ext cx="59436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9A84C"/>
                </a:solidFill>
              </a:rPr>
              <a:t>Representa apenas {{PERC_OP1}} do valor total da causa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200400" y="-1828800"/>
            <a:ext cx="6400800" cy="64008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11480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OPÇÃO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04088"/>
            <a:ext cx="6793992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300" b="0" i="0">
                <a:solidFill>
                  <a:srgbClr val="FFFFFF"/>
                </a:solidFill>
                <a:latin typeface="Georgia"/>
              </a:rPr>
              <a:t>Pagamento via Cartão</a:t>
            </a:r>
          </a:p>
          <a:p>
            <a:pPr algn="l">
              <a:spcBef>
                <a:spcPts val="300"/>
              </a:spcBef>
            </a:pPr>
            <a:r>
              <a:rPr sz="3300" b="1" i="0">
                <a:solidFill>
                  <a:srgbClr val="C9A84C"/>
                </a:solidFill>
                <a:latin typeface="Georgia"/>
              </a:rPr>
              <a:t>de Crédito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901952"/>
            <a:ext cx="3264408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84831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0D1B3E"/>
                </a:solidFill>
                <a:latin typeface="Calibri"/>
              </a:rPr>
              <a:t>À VISTA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081527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{{OP2_AVISTA}}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90672"/>
            <a:ext cx="3081527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0D1B3E"/>
                </a:solidFill>
                <a:latin typeface="Calibri"/>
              </a:rPr>
              <a:t>com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desconto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especial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429000"/>
            <a:ext cx="2971800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>
                <a:solidFill>
                  <a:srgbClr val="0D1B3E"/>
                </a:solidFill>
                <a:latin typeface="Calibri"/>
              </a:rPr>
              <a:t>{{OP2_ECONOMIA_CURTA}}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85615"/>
            <a:ext cx="3081527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0D1B3E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relação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ao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parcelado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por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boleto</a:t>
            </a:r>
            <a:endParaRPr sz="1400" b="0" i="0" dirty="0">
              <a:solidFill>
                <a:srgbClr val="0D1B3E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85615" y="1901952"/>
            <a:ext cx="3392424" cy="28346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85615" y="1901952"/>
            <a:ext cx="50292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86783" y="2084831"/>
            <a:ext cx="311810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00" dirty="0">
                <a:solidFill>
                  <a:srgbClr val="C9A84C"/>
                </a:solidFill>
                <a:latin typeface="Calibri"/>
              </a:rPr>
              <a:t>PARCELADO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3" y="2377440"/>
            <a:ext cx="3118104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{{OP2_ATE_PARCELAS}}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3" y="2688336"/>
            <a:ext cx="3118104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{{OP2_VALOR_PARCELA}}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3" y="3328416"/>
            <a:ext cx="3118104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juros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adicionais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86783" y="3639312"/>
            <a:ext cx="3118104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{{OP2_TOTAL}}
{{OP2_PARCELAS_MENSAIS}}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928616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49240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88720" y="5413248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Início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imediato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dos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trabalhos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após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confirmação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84048" y="6281927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702551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88720" y="6775703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FFFFFF"/>
                </a:solidFill>
                <a:latin typeface="Calibri"/>
              </a:rPr>
              <a:t>Maior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flexibilidade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no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planejamento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financeiro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7635240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055864"/>
            <a:ext cx="438912" cy="438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88720" y="8110031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custo-benefício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desta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proposta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4048" y="8988551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9409176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9444359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Aprovação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rápida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sem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burocracia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adicional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480000"/>
            <a:ext cx="3081527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</a:rPr>
              <a:t>≈ {{PERC_OP2_AV}} do valor da causa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Georgia"/>
              </a:rPr>
              <a:t>Por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Que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 Nos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Escolher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Comprometidos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com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excelência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6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2064258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Segurança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Financeira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segura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baseada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sólidos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conhecimentos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similares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13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995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812" y="208026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59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Atendimento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Humanizado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959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9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Atendimento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personalizado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compreendendo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necessidades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constante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6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593902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0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e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Responsabilidade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0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5A6070"/>
                </a:solidFill>
                <a:latin typeface="Calibri"/>
              </a:rPr>
              <a:t>Trabalho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pautado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altos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éticos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com total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comprometimento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absoluto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3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13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995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812" y="5939028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59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9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59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tempo real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nosso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aplicativo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exclusivo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C9A84C"/>
                </a:solidFill>
                <a:latin typeface="Calibri"/>
              </a:rPr>
              <a:t>Assessoria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jurídica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combativa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humanizada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transparente</a:t>
            </a:r>
            <a:endParaRPr sz="1400" b="0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86000" y="-2286000"/>
            <a:ext cx="7315200" cy="73152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26060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26060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 spc="100" dirty="0">
                <a:solidFill>
                  <a:srgbClr val="0D1B3E"/>
                </a:solidFill>
                <a:latin typeface="Calibri"/>
              </a:rPr>
              <a:t>CONSIDERAÇÕES FINAIS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Nosso Compromisso</a:t>
            </a:r>
          </a:p>
          <a:p>
            <a:pPr algn="l">
              <a:spcBef>
                <a:spcPts val="3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com Você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212848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2359152"/>
            <a:ext cx="6793992" cy="228600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359152"/>
            <a:ext cx="50292" cy="228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542032"/>
            <a:ext cx="640080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Oferecemos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uma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consultoria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combativa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humanizada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transparente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Nosso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objetivo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é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possível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com total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ética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responsabilidade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
Estamos à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inteira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892040"/>
            <a:ext cx="6793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CONTATO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5285232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5285232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5413248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Atendimento</a:t>
            </a:r>
            <a:r>
              <a:rPr sz="1200" b="1" i="0" spc="150" dirty="0">
                <a:solidFill>
                  <a:srgbClr val="C9A84C"/>
                </a:solidFill>
                <a:latin typeface="Calibri"/>
              </a:rPr>
              <a:t> </a:t>
            </a:r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Imediato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5669280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(21) 3437-5022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108192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WhatsApp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disponível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4048" y="6766560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048" y="6766560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6894576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>
                <a:solidFill>
                  <a:srgbClr val="C9A84C"/>
                </a:solidFill>
                <a:latin typeface="Calibri"/>
              </a:rPr>
              <a:t>E-mail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150608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contato@blindsafe.com.br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758952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Resposta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até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24 horas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8247888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" y="8247888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8375904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Aplicativo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1792" y="8631936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Link privado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enviado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9070848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início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dos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4048" y="10149840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222992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8899AA"/>
                </a:solidFill>
                <a:latin typeface="Calibri"/>
              </a:rPr>
              <a:t>Atenciosamente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,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994</Words>
  <Application>Microsoft Office PowerPoint</Application>
  <PresentationFormat>Personalizar</PresentationFormat>
  <Paragraphs>148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Paulo Ricardo</dc:creator>
  <cp:keywords/>
  <dc:description>generated using python-pptx</dc:description>
  <cp:lastModifiedBy>Paulo Ricardo</cp:lastModifiedBy>
  <cp:revision>4</cp:revision>
  <dcterms:created xsi:type="dcterms:W3CDTF">2013-01-27T09:14:16Z</dcterms:created>
  <dcterms:modified xsi:type="dcterms:W3CDTF">2026-06-28T14:58:42Z</dcterms:modified>
  <cp:category/>
</cp:coreProperties>
</file>