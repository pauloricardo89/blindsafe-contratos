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1685" y="-15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51760" y="-2743200"/>
            <a:ext cx="7772400" cy="7772400"/>
          </a:xfrm>
          <a:prstGeom prst="ellipse">
            <a:avLst/>
          </a:prstGeom>
          <a:solidFill>
            <a:srgbClr val="25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7562088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45720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 spc="500">
                <a:solidFill>
                  <a:srgbClr val="C9A84C"/>
                </a:solidFill>
                <a:latin typeface="Calibri"/>
              </a:rPr>
              <a:t>BLIND SAFE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86968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 spc="250">
                <a:solidFill>
                  <a:srgbClr val="8899AA"/>
                </a:solidFill>
                <a:latin typeface="Calibri"/>
              </a:rPr>
              <a:t>SOLUÇÕES FINANCEIRAS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2103120"/>
            <a:ext cx="6793992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0" i="0">
                <a:solidFill>
                  <a:srgbClr val="FFFFFF"/>
                </a:solidFill>
                <a:latin typeface="Georgia"/>
              </a:rPr>
              <a:t>Proposta de</a:t>
            </a:r>
          </a:p>
          <a:p>
            <a:pPr algn="l">
              <a:spcBef>
                <a:spcPts val="200"/>
              </a:spcBef>
            </a:pPr>
            <a:r>
              <a:rPr sz="4400" b="1" i="0">
                <a:solidFill>
                  <a:srgbClr val="C9A84C"/>
                </a:solidFill>
                <a:latin typeface="Georgia"/>
              </a:rPr>
              <a:t>Solução</a:t>
            </a:r>
          </a:p>
          <a:p>
            <a:pPr algn="l">
              <a:spcBef>
                <a:spcPts val="200"/>
              </a:spcBef>
            </a:pPr>
            <a:r>
              <a:rPr sz="4400" b="0" i="0">
                <a:solidFill>
                  <a:srgbClr val="FFFFFF"/>
                </a:solidFill>
                <a:latin typeface="Georgia"/>
              </a:rPr>
              <a:t>Financeira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572000"/>
            <a:ext cx="128016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4919472"/>
            <a:ext cx="6793992" cy="4663440"/>
          </a:xfrm>
          <a:prstGeom prst="rect">
            <a:avLst/>
          </a:prstGeom>
          <a:solidFill>
            <a:srgbClr val="132447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4919472"/>
            <a:ext cx="50292" cy="4663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5102352"/>
            <a:ext cx="6400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 spc="200" dirty="0">
                <a:solidFill>
                  <a:srgbClr val="C9A84C"/>
                </a:solidFill>
                <a:latin typeface="Calibri"/>
              </a:rPr>
              <a:t>SOLICITANTE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39496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Calibri"/>
              </a:rPr>
              <a:t>{{SOLICITANTE_NOME}}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797296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dirty="0">
                <a:solidFill>
                  <a:srgbClr val="8899AA"/>
                </a:solidFill>
                <a:latin typeface="Calibri"/>
              </a:rPr>
              <a:t>{{SOLICITANTE_EMPRESA}}</a:t>
            </a:r>
            <a:r>
              <a:rPr b="0" i="0" dirty="0" err="1">
                <a:solidFill>
                  <a:srgbClr val="8899AA"/>
                </a:solidFill>
                <a:latin typeface="Calibri"/>
              </a:rPr>
              <a:t/>
            </a:r>
            <a:r>
              <a:rPr b="0" i="0" dirty="0">
                <a:solidFill>
                  <a:srgbClr val="8899AA"/>
                </a:solidFill>
                <a:latin typeface="Calibri"/>
              </a:rPr>
              <a:t/>
            </a:r>
            <a:r>
              <a:rPr b="0" i="0" dirty="0" err="1">
                <a:solidFill>
                  <a:srgbClr val="8899AA"/>
                </a:solidFill>
                <a:latin typeface="Calibri"/>
              </a:rPr>
              <a:t/>
            </a:r>
            <a:endParaRPr b="0" i="0" dirty="0">
              <a:solidFill>
                <a:srgbClr val="8899AA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1792" y="6236208"/>
            <a:ext cx="6400800" cy="27432"/>
          </a:xfrm>
          <a:prstGeom prst="rect">
            <a:avLst/>
          </a:prstGeom>
          <a:solidFill>
            <a:srgbClr val="2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6382512"/>
            <a:ext cx="6400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 spc="200" dirty="0">
                <a:solidFill>
                  <a:srgbClr val="C9A84C"/>
                </a:solidFill>
                <a:latin typeface="Calibri"/>
              </a:rPr>
              <a:t>ASSUNTO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693408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dirty="0" err="1">
                <a:solidFill>
                  <a:srgbClr val="8899AA"/>
                </a:solidFill>
                <a:latin typeface="Calibri"/>
              </a:rPr>
              <a:t>{{ASSUNTO}}</a:t>
            </a:r>
            <a:r>
              <a:rPr b="0" i="0" dirty="0">
                <a:solidFill>
                  <a:srgbClr val="8899AA"/>
                </a:solidFill>
                <a:latin typeface="Calibri"/>
              </a:rPr>
              <a:t/>
            </a:r>
            <a:r>
              <a:rPr b="0" i="0" dirty="0" err="1">
                <a:solidFill>
                  <a:srgbClr val="8899AA"/>
                </a:solidFill>
                <a:latin typeface="Calibri"/>
              </a:rPr>
              <a:t/>
            </a:r>
            <a:r>
              <a:rPr b="0" i="0" dirty="0">
                <a:solidFill>
                  <a:srgbClr val="8899AA"/>
                </a:solidFill>
                <a:latin typeface="Calibr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7132320"/>
            <a:ext cx="6400800" cy="27432"/>
          </a:xfrm>
          <a:prstGeom prst="rect">
            <a:avLst/>
          </a:prstGeom>
          <a:solidFill>
            <a:srgbClr val="2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7278624"/>
            <a:ext cx="6400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 spc="200" dirty="0">
                <a:solidFill>
                  <a:srgbClr val="C9A84C"/>
                </a:solidFill>
                <a:latin typeface="Calibri"/>
              </a:rP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7571231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dirty="0">
                <a:solidFill>
                  <a:srgbClr val="8899AA"/>
                </a:solidFill>
                <a:latin typeface="Calibri"/>
              </a:rPr>
              <a:t>{{DATA_PROPOSTA}}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8321040"/>
            <a:ext cx="6400800" cy="27432"/>
          </a:xfrm>
          <a:prstGeom prst="rect">
            <a:avLst/>
          </a:prstGeom>
          <a:solidFill>
            <a:srgbClr val="2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" y="8503920"/>
            <a:ext cx="6400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 dirty="0">
                <a:solidFill>
                  <a:srgbClr val="8899AA"/>
                </a:solidFill>
                <a:latin typeface="Calibri"/>
              </a:rPr>
              <a:t>Estamos à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disposição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para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quaisquer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dúvidas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ou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esclarecimentos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. Nossa equipe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está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pronta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para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iniciar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os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trabalhos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imediatamente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após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a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confirmação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desta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proposta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1371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7562088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6793992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Sobre Nosso Escritório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95528"/>
            <a:ext cx="6793992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8899AA"/>
                </a:solidFill>
                <a:latin typeface="Calibri"/>
              </a:rPr>
              <a:t>Especialistas em Direito do Consumidor e soluções financeiras.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572768"/>
            <a:ext cx="6793992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572768"/>
            <a:ext cx="50292" cy="25786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03504" y="1892807"/>
            <a:ext cx="822960" cy="82296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055875"/>
            <a:ext cx="438912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72768" y="1828800"/>
            <a:ext cx="54864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 dirty="0" err="1">
                <a:solidFill>
                  <a:srgbClr val="0D1B3E"/>
                </a:solidFill>
                <a:latin typeface="Georgia"/>
              </a:rPr>
              <a:t>Excelência</a:t>
            </a:r>
            <a:r>
              <a:rPr sz="2000" b="1" i="0" dirty="0">
                <a:solidFill>
                  <a:srgbClr val="0D1B3E"/>
                </a:solidFill>
                <a:latin typeface="Georgia"/>
              </a:rPr>
              <a:t> Técnica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72768" y="2258568"/>
            <a:ext cx="9144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2834639"/>
            <a:ext cx="6400800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dirty="0" err="1">
                <a:solidFill>
                  <a:srgbClr val="5A6070"/>
                </a:solidFill>
                <a:latin typeface="Calibri"/>
              </a:rPr>
              <a:t>Fundamentamos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cada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estratégia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em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sólido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conhecimento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jurídico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e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experiência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comprovada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em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casos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financeiros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complexos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4279392"/>
            <a:ext cx="6793992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4279392"/>
            <a:ext cx="50292" cy="25786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03504" y="4599431"/>
            <a:ext cx="822960" cy="82296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862" y="4800600"/>
            <a:ext cx="438912" cy="4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72768" y="4535424"/>
            <a:ext cx="54864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 dirty="0" err="1">
                <a:solidFill>
                  <a:srgbClr val="0D1B3E"/>
                </a:solidFill>
                <a:latin typeface="Georgia"/>
              </a:rPr>
              <a:t>Ética</a:t>
            </a:r>
            <a:r>
              <a:rPr sz="2000" b="1" i="0" dirty="0">
                <a:solidFill>
                  <a:srgbClr val="0D1B3E"/>
                </a:solidFill>
                <a:latin typeface="Georgia"/>
              </a:rPr>
              <a:t> </a:t>
            </a:r>
            <a:r>
              <a:rPr sz="2000" b="1" i="0" dirty="0" err="1">
                <a:solidFill>
                  <a:srgbClr val="0D1B3E"/>
                </a:solidFill>
                <a:latin typeface="Georgia"/>
              </a:rPr>
              <a:t>Profissional</a:t>
            </a:r>
            <a:endParaRPr sz="2000" b="1" i="0" dirty="0">
              <a:solidFill>
                <a:srgbClr val="0D1B3E"/>
              </a:solidFill>
              <a:latin typeface="Georgia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572768" y="4965192"/>
            <a:ext cx="9144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5541264"/>
            <a:ext cx="6400800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dirty="0" err="1">
                <a:solidFill>
                  <a:srgbClr val="5A6070"/>
                </a:solidFill>
                <a:latin typeface="Calibri"/>
              </a:rPr>
              <a:t>Atuamos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com total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transparência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e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responsabilidade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,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garantindo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que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cada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decisão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esteja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alinhada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aos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seus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melhores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interesses.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986016"/>
            <a:ext cx="6793992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4048" y="6986016"/>
            <a:ext cx="50292" cy="25786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03504" y="7306055"/>
            <a:ext cx="822960" cy="82296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7507224"/>
            <a:ext cx="438912" cy="43891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572768" y="7242048"/>
            <a:ext cx="54864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 dirty="0">
                <a:solidFill>
                  <a:srgbClr val="0D1B3E"/>
                </a:solidFill>
                <a:latin typeface="Georgia"/>
              </a:rPr>
              <a:t>Foco </a:t>
            </a:r>
            <a:r>
              <a:rPr sz="2000" b="1" i="0" dirty="0" err="1">
                <a:solidFill>
                  <a:srgbClr val="0D1B3E"/>
                </a:solidFill>
                <a:latin typeface="Georgia"/>
              </a:rPr>
              <a:t>em</a:t>
            </a:r>
            <a:r>
              <a:rPr sz="2000" b="1" i="0" dirty="0">
                <a:solidFill>
                  <a:srgbClr val="0D1B3E"/>
                </a:solidFill>
                <a:latin typeface="Georgia"/>
              </a:rPr>
              <a:t> </a:t>
            </a:r>
            <a:r>
              <a:rPr sz="2000" b="1" i="0" dirty="0" err="1">
                <a:solidFill>
                  <a:srgbClr val="0D1B3E"/>
                </a:solidFill>
                <a:latin typeface="Georgia"/>
              </a:rPr>
              <a:t>Resultados</a:t>
            </a:r>
            <a:endParaRPr sz="2000" b="1" i="0" dirty="0">
              <a:solidFill>
                <a:srgbClr val="0D1B3E"/>
              </a:solidFill>
              <a:latin typeface="Georgia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572768" y="7671816"/>
            <a:ext cx="9144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8247888"/>
            <a:ext cx="6400800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dirty="0">
                <a:solidFill>
                  <a:srgbClr val="5A6070"/>
                </a:solidFill>
                <a:latin typeface="Calibri"/>
              </a:rPr>
              <a:t>Nosso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compromisso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é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encontrar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a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melhor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solução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financeira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,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reduzindo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encargos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e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assegurando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plenamente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os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seus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A6070"/>
                </a:solidFill>
                <a:latin typeface="Calibri"/>
              </a:rPr>
              <a:t>direitos</a:t>
            </a:r>
            <a:r>
              <a:rPr b="0" i="0" dirty="0">
                <a:solidFill>
                  <a:srgbClr val="5A6070"/>
                </a:solidFill>
                <a:latin typeface="Calibri"/>
              </a:rPr>
              <a:t>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10341864"/>
            <a:ext cx="6793992" cy="1828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4048" y="10369296"/>
            <a:ext cx="6793992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 dirty="0" err="1">
                <a:solidFill>
                  <a:srgbClr val="8899AA"/>
                </a:solidFill>
                <a:latin typeface="Calibri"/>
              </a:rPr>
              <a:t>BlindSafe</a:t>
            </a:r>
            <a:r>
              <a:rPr sz="11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8899AA"/>
                </a:solidFill>
                <a:latin typeface="Calibri"/>
              </a:rPr>
              <a:t>Soluções</a:t>
            </a:r>
            <a:r>
              <a:rPr sz="11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8899AA"/>
                </a:solidFill>
                <a:latin typeface="Calibri"/>
              </a:rPr>
              <a:t>Financeiras</a:t>
            </a:r>
            <a:r>
              <a:rPr sz="1100" b="0" i="0" dirty="0">
                <a:solidFill>
                  <a:srgbClr val="8899AA"/>
                </a:solidFill>
                <a:latin typeface="Calibri"/>
              </a:rPr>
              <a:t>  |  contato@blindsafe.com.br  |  (21) 3437-5022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840480" y="-2286000"/>
            <a:ext cx="5943600" cy="5943600"/>
          </a:xfrm>
          <a:prstGeom prst="ellipse">
            <a:avLst/>
          </a:prstGeom>
          <a:solidFill>
            <a:srgbClr val="18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4048" y="411480"/>
            <a:ext cx="1234440" cy="310896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411480"/>
            <a:ext cx="12344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 spc="100">
                <a:solidFill>
                  <a:srgbClr val="0D1B3E"/>
                </a:solidFill>
                <a:latin typeface="Calibri"/>
              </a:rPr>
              <a:t>SEU CASO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932688"/>
            <a:ext cx="6793992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0" i="0">
                <a:solidFill>
                  <a:srgbClr val="FFFFFF"/>
                </a:solidFill>
                <a:latin typeface="Georgia"/>
              </a:rPr>
              <a:t>Entendemos a</a:t>
            </a:r>
          </a:p>
          <a:p>
            <a:pPr algn="l">
              <a:spcBef>
                <a:spcPts val="200"/>
              </a:spcBef>
            </a:pPr>
            <a:r>
              <a:rPr sz="3600" b="1" i="0">
                <a:solidFill>
                  <a:srgbClr val="C9A84C"/>
                </a:solidFill>
                <a:latin typeface="Georgia"/>
              </a:rPr>
              <a:t>Sua Situação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2212848"/>
            <a:ext cx="67939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8899AA"/>
                </a:solidFill>
                <a:latin typeface="Calibri"/>
              </a:rPr>
              <a:t>Assessoria financeira combativa e humanizada.</a:t>
            </a:r>
          </a:p>
        </p:txBody>
      </p:sp>
      <p:pic>
        <p:nvPicPr>
          <p:cNvPr id="8" name="Picture 7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1920240" cy="19202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4048" y="2633472"/>
            <a:ext cx="6793992" cy="27432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2816352"/>
            <a:ext cx="6793992" cy="2121408"/>
          </a:xfrm>
          <a:prstGeom prst="rect">
            <a:avLst/>
          </a:prstGeom>
          <a:solidFill>
            <a:srgbClr val="132447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2816352"/>
            <a:ext cx="50292" cy="21214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2980944"/>
            <a:ext cx="6400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 i="0" spc="150" dirty="0">
                <a:solidFill>
                  <a:srgbClr val="C9A84C"/>
                </a:solidFill>
                <a:latin typeface="Calibri"/>
              </a:rPr>
              <a:t>TIPO DE 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790" y="3355848"/>
            <a:ext cx="6400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 dirty="0" err="1">
                <a:solidFill>
                  <a:srgbClr val="FFFFFF"/>
                </a:solidFill>
                <a:latin typeface="Georgia"/>
              </a:rPr>
              <a:t>{{ASSUNTO}}</a:t>
            </a:r>
            <a:r>
              <a:rPr sz="2000" b="1" i="0" dirty="0">
                <a:solidFill>
                  <a:srgbClr val="FFFFFF"/>
                </a:solidFill>
                <a:latin typeface="Georgia"/>
              </a:rPr>
              <a:t/>
            </a:r>
            <a:r>
              <a:rPr sz="2000" b="1" i="0" dirty="0" err="1">
                <a:solidFill>
                  <a:srgbClr val="FFFFFF"/>
                </a:solidFill>
                <a:latin typeface="Georgia"/>
              </a:rPr>
              <a:t/>
            </a:r>
            <a:r>
              <a:rPr sz="2000" b="1" i="0" dirty="0">
                <a:solidFill>
                  <a:srgbClr val="FFFFFF"/>
                </a:solidFill>
                <a:latin typeface="Georgia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5102352"/>
            <a:ext cx="6793992" cy="2121408"/>
          </a:xfrm>
          <a:prstGeom prst="rect">
            <a:avLst/>
          </a:prstGeom>
          <a:solidFill>
            <a:srgbClr val="132447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4048" y="5102352"/>
            <a:ext cx="50292" cy="21214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5266944"/>
            <a:ext cx="6400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 i="0" spc="150" dirty="0">
                <a:solidFill>
                  <a:srgbClr val="C9A84C"/>
                </a:solidFill>
                <a:latin typeface="Calibri"/>
              </a:rPr>
              <a:t>PARTES ENVOLVIDAS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687568"/>
            <a:ext cx="6400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Georgia"/>
              </a:rPr>
              <a:t>{{SOLICITANTE_EMPRESA}}</a:t>
            </a:r>
            <a:r>
              <a:rPr sz="2000" b="1" i="0" dirty="0" err="1">
                <a:solidFill>
                  <a:srgbClr val="FFFFFF"/>
                </a:solidFill>
                <a:latin typeface="Georgia"/>
              </a:rPr>
              <a:t/>
            </a:r>
            <a:r>
              <a:rPr sz="2000" b="1" i="0" dirty="0">
                <a:solidFill>
                  <a:srgbClr val="FFFFFF"/>
                </a:solidFill>
                <a:latin typeface="Georgia"/>
              </a:rPr>
              <a:t/>
            </a:r>
            <a:r>
              <a:rPr sz="2000" b="1" i="0" dirty="0" err="1">
                <a:solidFill>
                  <a:srgbClr val="FFFFFF"/>
                </a:solidFill>
                <a:latin typeface="Georgia"/>
              </a:rPr>
              <a:t/>
            </a:r>
            <a:endParaRPr sz="2000" b="1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6085332"/>
            <a:ext cx="640080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dirty="0">
                <a:solidFill>
                  <a:srgbClr val="8899AA"/>
                </a:solidFill>
                <a:latin typeface="Calibri"/>
              </a:rPr>
              <a:t>{{SOLICITANTE_NOME}}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7388352"/>
            <a:ext cx="6793992" cy="2121408"/>
          </a:xfrm>
          <a:prstGeom prst="rect">
            <a:avLst/>
          </a:prstGeom>
          <a:solidFill>
            <a:srgbClr val="132447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84048" y="7388352"/>
            <a:ext cx="50292" cy="21214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7552944"/>
            <a:ext cx="6400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 i="0" spc="150" dirty="0">
                <a:solidFill>
                  <a:srgbClr val="C9A84C"/>
                </a:solidFill>
                <a:latin typeface="Calibri"/>
              </a:rPr>
              <a:t>OBJETIVO JURÍDICO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7927848"/>
            <a:ext cx="6400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 dirty="0" err="1">
                <a:solidFill>
                  <a:srgbClr val="FFFFFF"/>
                </a:solidFill>
                <a:latin typeface="Georgia"/>
              </a:rPr>
              <a:t>Defesa</a:t>
            </a:r>
            <a:r>
              <a:rPr sz="2000" b="1" i="0" dirty="0">
                <a:solidFill>
                  <a:srgbClr val="FFFFFF"/>
                </a:solidFill>
                <a:latin typeface="Georgia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Georgia"/>
              </a:rPr>
              <a:t>estratégica</a:t>
            </a:r>
            <a:r>
              <a:rPr sz="2000" b="1" i="0" dirty="0">
                <a:solidFill>
                  <a:srgbClr val="FFFFFF"/>
                </a:solidFill>
                <a:latin typeface="Georgia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Georgia"/>
              </a:rPr>
              <a:t>perante</a:t>
            </a:r>
            <a:r>
              <a:rPr sz="2000" b="1" i="0" dirty="0">
                <a:solidFill>
                  <a:srgbClr val="FFFFFF"/>
                </a:solidFill>
                <a:latin typeface="Georgia"/>
              </a:rPr>
              <a:t> a </a:t>
            </a:r>
            <a:r>
              <a:rPr sz="2000" b="1" i="0" dirty="0" err="1">
                <a:solidFill>
                  <a:srgbClr val="FFFFFF"/>
                </a:solidFill>
                <a:latin typeface="Georgia"/>
              </a:rPr>
              <a:t>instituição</a:t>
            </a:r>
            <a:r>
              <a:rPr sz="2000" b="1" i="0" dirty="0">
                <a:solidFill>
                  <a:srgbClr val="FFFFFF"/>
                </a:solidFill>
                <a:latin typeface="Georgia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Georgia"/>
              </a:rPr>
              <a:t>credora</a:t>
            </a:r>
            <a:endParaRPr sz="2000" b="1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" y="8590788"/>
            <a:ext cx="640080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 dirty="0" err="1">
                <a:solidFill>
                  <a:srgbClr val="8899AA"/>
                </a:solidFill>
                <a:latin typeface="Calibri"/>
              </a:rPr>
              <a:t>Visando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a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redução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de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encargos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indevidos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e a
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regularização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da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situação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financeira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10341864"/>
            <a:ext cx="6793992" cy="1828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048" y="10369296"/>
            <a:ext cx="6793992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 dirty="0" err="1">
                <a:solidFill>
                  <a:srgbClr val="8899AA"/>
                </a:solidFill>
                <a:latin typeface="Calibri"/>
              </a:rPr>
              <a:t>BlindSafe</a:t>
            </a:r>
            <a:r>
              <a:rPr sz="11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8899AA"/>
                </a:solidFill>
                <a:latin typeface="Calibri"/>
              </a:rPr>
              <a:t>Soluções</a:t>
            </a:r>
            <a:r>
              <a:rPr sz="11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8899AA"/>
                </a:solidFill>
                <a:latin typeface="Calibri"/>
              </a:rPr>
              <a:t>Financeiras</a:t>
            </a:r>
            <a:r>
              <a:rPr sz="1100" b="0" i="0" dirty="0">
                <a:solidFill>
                  <a:srgbClr val="8899AA"/>
                </a:solidFill>
                <a:latin typeface="Calibri"/>
              </a:rPr>
              <a:t>  |  contato@blindsafe.com.br  |  (21) 3437-5022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1371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7562088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6793992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Nossa 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95528"/>
            <a:ext cx="6793992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 dirty="0">
                <a:solidFill>
                  <a:srgbClr val="8899AA"/>
                </a:solidFill>
                <a:latin typeface="Calibri"/>
              </a:rPr>
              <a:t>Cada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etapa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desenhada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para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garantir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o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melhor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resultado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na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sua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negociação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108960"/>
            <a:ext cx="27432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84048" y="1709928"/>
            <a:ext cx="868680" cy="86868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709928"/>
            <a:ext cx="868680" cy="8686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br>
              <a:rPr lang="pt-BR" sz="1600" b="1" i="0" dirty="0">
                <a:solidFill>
                  <a:srgbClr val="C9A84C"/>
                </a:solidFill>
                <a:latin typeface="Calibri"/>
              </a:rPr>
            </a:br>
            <a:r>
              <a:rPr sz="1600" b="1" i="0" dirty="0">
                <a:solidFill>
                  <a:srgbClr val="C9A84C"/>
                </a:solidFill>
                <a:latin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572768"/>
            <a:ext cx="5806440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709928"/>
            <a:ext cx="438912" cy="4389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84831" y="1719072"/>
            <a:ext cx="498348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 i="0" dirty="0" err="1">
                <a:solidFill>
                  <a:srgbClr val="0D1B3E"/>
                </a:solidFill>
                <a:latin typeface="Georgia"/>
              </a:rPr>
              <a:t>Análise</a:t>
            </a:r>
            <a:r>
              <a:rPr b="1" i="0" dirty="0">
                <a:solidFill>
                  <a:srgbClr val="0D1B3E"/>
                </a:solidFill>
                <a:latin typeface="Georgia"/>
              </a:rPr>
              <a:t> do </a:t>
            </a:r>
            <a:r>
              <a:rPr b="1" i="0" dirty="0" err="1">
                <a:solidFill>
                  <a:srgbClr val="0D1B3E"/>
                </a:solidFill>
                <a:latin typeface="Georgia"/>
              </a:rPr>
              <a:t>Contrato</a:t>
            </a:r>
            <a:endParaRPr b="1" i="0" dirty="0">
              <a:solidFill>
                <a:srgbClr val="0D1B3E"/>
              </a:solidFill>
              <a:latin typeface="Georgi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08760" y="2231136"/>
            <a:ext cx="5550408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 dirty="0" err="1">
                <a:solidFill>
                  <a:srgbClr val="5A6070"/>
                </a:solidFill>
                <a:latin typeface="Calibri"/>
              </a:rPr>
              <a:t>Estudo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A6070"/>
                </a:solidFill>
                <a:latin typeface="Calibri"/>
              </a:rPr>
              <a:t>aprofundado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 de </a:t>
            </a:r>
            <a:r>
              <a:rPr sz="1600" b="0" i="0" dirty="0" err="1">
                <a:solidFill>
                  <a:srgbClr val="5A6070"/>
                </a:solidFill>
                <a:latin typeface="Calibri"/>
              </a:rPr>
              <a:t>todas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 as </a:t>
            </a:r>
            <a:r>
              <a:rPr sz="1600" b="0" i="0" dirty="0" err="1">
                <a:solidFill>
                  <a:srgbClr val="5A6070"/>
                </a:solidFill>
                <a:latin typeface="Calibri"/>
              </a:rPr>
              <a:t>cláusulas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 e </a:t>
            </a:r>
            <a:r>
              <a:rPr sz="1600" b="0" i="0" dirty="0" err="1">
                <a:solidFill>
                  <a:srgbClr val="5A6070"/>
                </a:solidFill>
                <a:latin typeface="Calibri"/>
              </a:rPr>
              <a:t>condições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 do </a:t>
            </a:r>
            <a:r>
              <a:rPr sz="1600" b="0" i="0" dirty="0" err="1">
                <a:solidFill>
                  <a:srgbClr val="5A6070"/>
                </a:solidFill>
                <a:latin typeface="Calibri"/>
              </a:rPr>
              <a:t>caso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736592"/>
            <a:ext cx="27432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84048" y="3337560"/>
            <a:ext cx="868680" cy="86868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3337560"/>
            <a:ext cx="868680" cy="8686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br>
              <a:rPr lang="pt-BR" sz="1600" b="1" i="0" dirty="0">
                <a:solidFill>
                  <a:srgbClr val="C9A84C"/>
                </a:solidFill>
                <a:latin typeface="Calibri"/>
              </a:rPr>
            </a:br>
            <a:r>
              <a:rPr sz="1600" b="1" i="0" dirty="0">
                <a:solidFill>
                  <a:srgbClr val="C9A84C"/>
                </a:solidFill>
                <a:latin typeface="Calibri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200400"/>
            <a:ext cx="5806440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3339084"/>
            <a:ext cx="438912" cy="4389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084831" y="3346704"/>
            <a:ext cx="498348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 i="0" dirty="0" err="1">
                <a:solidFill>
                  <a:srgbClr val="0D1B3E"/>
                </a:solidFill>
                <a:latin typeface="Georgia"/>
              </a:rPr>
              <a:t>Estratégia</a:t>
            </a:r>
            <a:endParaRPr b="1" i="0" dirty="0">
              <a:solidFill>
                <a:srgbClr val="0D1B3E"/>
              </a:solidFill>
              <a:latin typeface="Georgi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08760" y="3858768"/>
            <a:ext cx="5550408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 dirty="0" err="1">
                <a:solidFill>
                  <a:srgbClr val="5A6070"/>
                </a:solidFill>
                <a:latin typeface="Calibri"/>
              </a:rPr>
              <a:t>Criação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 de plano e </a:t>
            </a:r>
            <a:r>
              <a:rPr sz="1600" b="0" i="0" dirty="0" err="1">
                <a:solidFill>
                  <a:srgbClr val="5A6070"/>
                </a:solidFill>
                <a:latin typeface="Calibri"/>
              </a:rPr>
              <a:t>contrapropostas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 para a </a:t>
            </a:r>
            <a:r>
              <a:rPr sz="1600" b="0" i="0" dirty="0" err="1">
                <a:solidFill>
                  <a:srgbClr val="5A6070"/>
                </a:solidFill>
                <a:latin typeface="Calibri"/>
              </a:rPr>
              <a:t>negociação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6364224"/>
            <a:ext cx="27432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84048" y="4965192"/>
            <a:ext cx="868680" cy="86868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8" y="4965192"/>
            <a:ext cx="868680" cy="8686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br>
              <a:rPr lang="pt-BR" sz="1600" b="1" i="0" dirty="0">
                <a:solidFill>
                  <a:srgbClr val="C9A84C"/>
                </a:solidFill>
                <a:latin typeface="Calibri"/>
              </a:rPr>
            </a:br>
            <a:r>
              <a:rPr sz="1600" b="1" i="0" dirty="0">
                <a:solidFill>
                  <a:srgbClr val="C9A84C"/>
                </a:solidFill>
                <a:latin typeface="Calibri"/>
              </a:rPr>
              <a:t>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4828032"/>
            <a:ext cx="5806440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4937760"/>
            <a:ext cx="438912" cy="43891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084831" y="4974336"/>
            <a:ext cx="498348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 i="0" dirty="0" err="1">
                <a:solidFill>
                  <a:srgbClr val="0D1B3E"/>
                </a:solidFill>
                <a:latin typeface="Georgia"/>
              </a:rPr>
              <a:t>Assessoria</a:t>
            </a:r>
            <a:r>
              <a:rPr b="1" i="0" dirty="0">
                <a:solidFill>
                  <a:srgbClr val="0D1B3E"/>
                </a:solidFill>
                <a:latin typeface="Georgia"/>
              </a:rPr>
              <a:t> </a:t>
            </a:r>
            <a:r>
              <a:rPr b="1" i="0" dirty="0" err="1">
                <a:solidFill>
                  <a:srgbClr val="0D1B3E"/>
                </a:solidFill>
                <a:latin typeface="Georgia"/>
              </a:rPr>
              <a:t>na</a:t>
            </a:r>
            <a:r>
              <a:rPr b="1" i="0" dirty="0">
                <a:solidFill>
                  <a:srgbClr val="0D1B3E"/>
                </a:solidFill>
                <a:latin typeface="Georgia"/>
              </a:rPr>
              <a:t> </a:t>
            </a:r>
            <a:r>
              <a:rPr b="1" i="0" dirty="0" err="1">
                <a:solidFill>
                  <a:srgbClr val="0D1B3E"/>
                </a:solidFill>
                <a:latin typeface="Georgia"/>
              </a:rPr>
              <a:t>Negociação</a:t>
            </a:r>
            <a:endParaRPr b="1" i="0" dirty="0">
              <a:solidFill>
                <a:srgbClr val="0D1B3E"/>
              </a:solidFill>
              <a:latin typeface="Georgi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08760" y="5486400"/>
            <a:ext cx="5550408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 dirty="0" err="1">
                <a:solidFill>
                  <a:srgbClr val="5A6070"/>
                </a:solidFill>
                <a:latin typeface="Calibri"/>
              </a:rPr>
              <a:t>Atuação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A6070"/>
                </a:solidFill>
                <a:latin typeface="Calibri"/>
              </a:rPr>
              <a:t>em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A6070"/>
                </a:solidFill>
                <a:latin typeface="Calibri"/>
              </a:rPr>
              <a:t>todas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 as </a:t>
            </a:r>
            <a:r>
              <a:rPr sz="1600" b="0" i="0" dirty="0" err="1">
                <a:solidFill>
                  <a:srgbClr val="5A6070"/>
                </a:solidFill>
                <a:latin typeface="Calibri"/>
              </a:rPr>
              <a:t>fases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 para defender </a:t>
            </a:r>
            <a:r>
              <a:rPr sz="1600" b="0" i="0" dirty="0" err="1">
                <a:solidFill>
                  <a:srgbClr val="5A6070"/>
                </a:solidFill>
                <a:latin typeface="Calibri"/>
              </a:rPr>
              <a:t>seus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 interesses.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7991856"/>
            <a:ext cx="27432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84048" y="6592824"/>
            <a:ext cx="868680" cy="86868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4048" y="6592824"/>
            <a:ext cx="868680" cy="8686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br>
              <a:rPr lang="pt-BR" sz="1600" b="1" i="0" dirty="0">
                <a:solidFill>
                  <a:srgbClr val="C9A84C"/>
                </a:solidFill>
                <a:latin typeface="Calibri"/>
              </a:rPr>
            </a:br>
            <a:r>
              <a:rPr sz="1600" b="1" i="0" dirty="0">
                <a:solidFill>
                  <a:srgbClr val="C9A84C"/>
                </a:solidFill>
                <a:latin typeface="Calibri"/>
              </a:rPr>
              <a:t>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6455664"/>
            <a:ext cx="5806440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1" y="6588590"/>
            <a:ext cx="438912" cy="43891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084831" y="6601968"/>
            <a:ext cx="498348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 i="0" dirty="0" err="1">
                <a:solidFill>
                  <a:srgbClr val="0D1B3E"/>
                </a:solidFill>
                <a:latin typeface="Georgia"/>
              </a:rPr>
              <a:t>Negociação</a:t>
            </a:r>
            <a:r>
              <a:rPr b="1" i="0" dirty="0">
                <a:solidFill>
                  <a:srgbClr val="0D1B3E"/>
                </a:solidFill>
                <a:latin typeface="Georgia"/>
              </a:rPr>
              <a:t> com </a:t>
            </a:r>
            <a:r>
              <a:rPr b="1" i="0" dirty="0" err="1">
                <a:solidFill>
                  <a:srgbClr val="0D1B3E"/>
                </a:solidFill>
                <a:latin typeface="Georgia"/>
              </a:rPr>
              <a:t>Credor</a:t>
            </a:r>
            <a:endParaRPr b="1" i="0" dirty="0">
              <a:solidFill>
                <a:srgbClr val="0D1B3E"/>
              </a:solidFill>
              <a:latin typeface="Georgi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508760" y="7114031"/>
            <a:ext cx="5550408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 dirty="0" err="1">
                <a:solidFill>
                  <a:srgbClr val="5A6070"/>
                </a:solidFill>
                <a:latin typeface="Calibri"/>
              </a:rPr>
              <a:t>Comunicação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A6070"/>
                </a:solidFill>
                <a:latin typeface="Calibri"/>
              </a:rPr>
              <a:t>direta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 com a </a:t>
            </a:r>
            <a:r>
              <a:rPr sz="1600" b="0" i="0" dirty="0" err="1">
                <a:solidFill>
                  <a:srgbClr val="5A6070"/>
                </a:solidFill>
                <a:latin typeface="Calibri"/>
              </a:rPr>
              <a:t>instituição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 para o </a:t>
            </a:r>
            <a:r>
              <a:rPr sz="1600" b="0" i="0" dirty="0" err="1">
                <a:solidFill>
                  <a:srgbClr val="5A6070"/>
                </a:solidFill>
                <a:latin typeface="Calibri"/>
              </a:rPr>
              <a:t>melhor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A6070"/>
                </a:solidFill>
                <a:latin typeface="Calibri"/>
              </a:rPr>
              <a:t>acordo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.</a:t>
            </a:r>
          </a:p>
        </p:txBody>
      </p:sp>
      <p:sp>
        <p:nvSpPr>
          <p:cNvPr id="34" name="Oval 33"/>
          <p:cNvSpPr/>
          <p:nvPr/>
        </p:nvSpPr>
        <p:spPr>
          <a:xfrm>
            <a:off x="384048" y="8220456"/>
            <a:ext cx="868680" cy="86868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4048" y="8220456"/>
            <a:ext cx="868680" cy="8686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br>
              <a:rPr lang="pt-BR" sz="1600" b="1" i="0" dirty="0">
                <a:solidFill>
                  <a:srgbClr val="C9A84C"/>
                </a:solidFill>
                <a:latin typeface="Calibri"/>
              </a:rPr>
            </a:br>
            <a:r>
              <a:rPr sz="1600" b="1" i="0" dirty="0">
                <a:solidFill>
                  <a:srgbClr val="C9A84C"/>
                </a:solidFill>
                <a:latin typeface="Calibri"/>
              </a:rPr>
              <a:t>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8083296"/>
            <a:ext cx="5806440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9776" y="8161020"/>
            <a:ext cx="438912" cy="43891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084831" y="8229600"/>
            <a:ext cx="498348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 i="0" dirty="0" err="1">
                <a:solidFill>
                  <a:srgbClr val="0D1B3E"/>
                </a:solidFill>
                <a:latin typeface="Georgia"/>
              </a:rPr>
              <a:t>Acompanhamento</a:t>
            </a:r>
            <a:r>
              <a:rPr b="1" i="0" dirty="0">
                <a:solidFill>
                  <a:srgbClr val="0D1B3E"/>
                </a:solidFill>
                <a:latin typeface="Georgia"/>
              </a:rPr>
              <a:t> Digital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8741664"/>
            <a:ext cx="5550408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 dirty="0" err="1">
                <a:solidFill>
                  <a:srgbClr val="5A6070"/>
                </a:solidFill>
                <a:latin typeface="Calibri"/>
              </a:rPr>
              <a:t>Acompanhe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A6070"/>
                </a:solidFill>
                <a:latin typeface="Calibri"/>
              </a:rPr>
              <a:t>negociação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5A6070"/>
                </a:solidFill>
                <a:latin typeface="Calibri"/>
              </a:rPr>
              <a:t>faturas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 e </a:t>
            </a:r>
            <a:r>
              <a:rPr sz="1600" b="0" i="0" dirty="0" err="1">
                <a:solidFill>
                  <a:srgbClr val="5A6070"/>
                </a:solidFill>
                <a:latin typeface="Calibri"/>
              </a:rPr>
              <a:t>propostas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A6070"/>
                </a:solidFill>
                <a:latin typeface="Calibri"/>
              </a:rPr>
              <a:t>em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 tempo real.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10341864"/>
            <a:ext cx="6793992" cy="1828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" y="10369296"/>
            <a:ext cx="6793992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 dirty="0" err="1">
                <a:solidFill>
                  <a:srgbClr val="8899AA"/>
                </a:solidFill>
                <a:latin typeface="Calibri"/>
              </a:rPr>
              <a:t>BlindSafe</a:t>
            </a:r>
            <a:r>
              <a:rPr sz="11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8899AA"/>
                </a:solidFill>
                <a:latin typeface="Calibri"/>
              </a:rPr>
              <a:t>Soluções</a:t>
            </a:r>
            <a:r>
              <a:rPr sz="11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8899AA"/>
                </a:solidFill>
                <a:latin typeface="Calibri"/>
              </a:rPr>
              <a:t>Financeiras</a:t>
            </a:r>
            <a:r>
              <a:rPr sz="1100" b="0" i="0" dirty="0">
                <a:solidFill>
                  <a:srgbClr val="8899AA"/>
                </a:solidFill>
                <a:latin typeface="Calibri"/>
              </a:rPr>
              <a:t>  |  contato@blindsafe.com.br  |  (21) 3437-5022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286000" y="6400800"/>
            <a:ext cx="6400800" cy="6400800"/>
          </a:xfrm>
          <a:prstGeom prst="ellipse">
            <a:avLst/>
          </a:prstGeom>
          <a:solidFill>
            <a:srgbClr val="18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6793992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Proposta de Honorários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078992"/>
            <a:ext cx="67939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8899AA"/>
                </a:solidFill>
                <a:latin typeface="Calibri"/>
              </a:rPr>
              <a:t>Opções flexíveis adaptadas à sua realidade financeira.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6793992" cy="27432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719072"/>
            <a:ext cx="6793992" cy="4069080"/>
          </a:xfrm>
          <a:prstGeom prst="rect">
            <a:avLst/>
          </a:prstGeom>
          <a:solidFill>
            <a:srgbClr val="132447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719072"/>
            <a:ext cx="50292" cy="4069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1920240"/>
            <a:ext cx="41148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" y="1920240"/>
            <a:ext cx="2743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 spc="200" dirty="0">
                <a:solidFill>
                  <a:srgbClr val="C9A84C"/>
                </a:solidFill>
                <a:latin typeface="Calibri"/>
              </a:rPr>
              <a:t>OPÇÃO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249424"/>
            <a:ext cx="64008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 dirty="0" err="1">
                <a:solidFill>
                  <a:srgbClr val="FFFFFF"/>
                </a:solidFill>
                <a:latin typeface="Georgia"/>
              </a:rPr>
              <a:t>Parcelamento</a:t>
            </a:r>
            <a:r>
              <a:rPr sz="2000" b="1" i="0" dirty="0">
                <a:solidFill>
                  <a:srgbClr val="FFFFFF"/>
                </a:solidFill>
                <a:latin typeface="Georgia"/>
              </a:rPr>
              <a:t> via </a:t>
            </a:r>
            <a:r>
              <a:rPr sz="2000" b="1" i="0" dirty="0" err="1">
                <a:solidFill>
                  <a:srgbClr val="FFFFFF"/>
                </a:solidFill>
                <a:latin typeface="Georgia"/>
              </a:rPr>
              <a:t>Boleto</a:t>
            </a:r>
            <a:r>
              <a:rPr sz="2000" b="1" i="0" dirty="0">
                <a:solidFill>
                  <a:srgbClr val="FFFFFF"/>
                </a:solidFill>
                <a:latin typeface="Georgia"/>
              </a:rPr>
              <a:t> Bancário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2798063"/>
            <a:ext cx="6400800" cy="27432"/>
          </a:xfrm>
          <a:prstGeom prst="rect">
            <a:avLst/>
          </a:prstGeom>
          <a:solidFill>
            <a:srgbClr val="2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2999232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 spc="100" dirty="0">
                <a:solidFill>
                  <a:srgbClr val="C9A84C"/>
                </a:solidFill>
                <a:latin typeface="Calibri"/>
              </a:rPr>
              <a:t>VALOR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255263"/>
            <a:ext cx="21945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Calibri"/>
              </a:rPr>
              <a:t>{{OP1_VALOR_TOTAL}}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999232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 spc="100" dirty="0">
                <a:solidFill>
                  <a:srgbClr val="C9A84C"/>
                </a:solidFill>
                <a:latin typeface="Calibri"/>
              </a:rPr>
              <a:t>ENTRADA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255263"/>
            <a:ext cx="21945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Calibri"/>
              </a:rPr>
              <a:t>{{OP1_ENTRADA}}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999232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 spc="100" dirty="0">
                <a:solidFill>
                  <a:srgbClr val="C9A84C"/>
                </a:solidFill>
                <a:latin typeface="Calibri"/>
              </a:rPr>
              <a:t>PARCELAS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255263"/>
            <a:ext cx="21945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Calibri"/>
              </a:rPr>
              <a:t>{{OP1_PARCELAS}}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3959352"/>
            <a:ext cx="6400800" cy="27432"/>
          </a:xfrm>
          <a:prstGeom prst="rect">
            <a:avLst/>
          </a:prstGeom>
          <a:solidFill>
            <a:srgbClr val="2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" y="4096512"/>
            <a:ext cx="6400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 dirty="0" err="1">
                <a:solidFill>
                  <a:srgbClr val="8899AA"/>
                </a:solidFill>
                <a:latin typeface="Calibri"/>
              </a:rPr>
              <a:t>Honorários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para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início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imediato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dos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trabalhos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via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boleto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bancário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mensal.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4846320"/>
            <a:ext cx="6400800" cy="27432"/>
          </a:xfrm>
          <a:prstGeom prst="rect">
            <a:avLst/>
          </a:prstGeom>
          <a:solidFill>
            <a:srgbClr val="2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010912"/>
            <a:ext cx="292608" cy="2926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3272" y="4992624"/>
            <a:ext cx="2834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 dirty="0" err="1">
                <a:solidFill>
                  <a:srgbClr val="8899AA"/>
                </a:solidFill>
                <a:latin typeface="Calibri"/>
              </a:rPr>
              <a:t>Início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imediato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dos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trabalhos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após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assinatura</a:t>
            </a:r>
            <a:endParaRPr sz="1400" b="0" i="0" dirty="0">
              <a:solidFill>
                <a:srgbClr val="8899AA"/>
              </a:solidFill>
              <a:latin typeface="Calibri"/>
            </a:endParaRPr>
          </a:p>
        </p:txBody>
      </p:sp>
      <p:pic>
        <p:nvPicPr>
          <p:cNvPr id="24" name="Picture 23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352" y="5010912"/>
            <a:ext cx="292608" cy="2926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370832" y="4992624"/>
            <a:ext cx="2834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 dirty="0">
                <a:solidFill>
                  <a:srgbClr val="8899AA"/>
                </a:solidFill>
                <a:latin typeface="Calibri"/>
              </a:rPr>
              <a:t>5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parcelas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mensais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via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boleto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bancário</a:t>
            </a:r>
            <a:endParaRPr sz="1400" b="0" i="0" dirty="0">
              <a:solidFill>
                <a:srgbClr val="8899AA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84048" y="5971032"/>
            <a:ext cx="6793992" cy="4069080"/>
          </a:xfrm>
          <a:prstGeom prst="rect">
            <a:avLst/>
          </a:prstGeom>
          <a:solidFill>
            <a:srgbClr val="132447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84048" y="5971032"/>
            <a:ext cx="50292" cy="4069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6172200"/>
            <a:ext cx="411480" cy="4114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21792" y="6172200"/>
            <a:ext cx="2743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 spc="200" dirty="0">
                <a:solidFill>
                  <a:srgbClr val="E5CC7A"/>
                </a:solidFill>
                <a:latin typeface="Calibri"/>
              </a:rPr>
              <a:t>OPÇÃO 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01384"/>
            <a:ext cx="64008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 dirty="0" err="1">
                <a:solidFill>
                  <a:srgbClr val="FFFFFF"/>
                </a:solidFill>
                <a:latin typeface="Georgia"/>
              </a:rPr>
              <a:t>Pagamento</a:t>
            </a:r>
            <a:r>
              <a:rPr sz="2000" b="1" i="0" dirty="0">
                <a:solidFill>
                  <a:srgbClr val="FFFFFF"/>
                </a:solidFill>
                <a:latin typeface="Georgia"/>
              </a:rPr>
              <a:t> via </a:t>
            </a:r>
            <a:r>
              <a:rPr sz="2000" b="1" i="0" dirty="0" err="1">
                <a:solidFill>
                  <a:srgbClr val="FFFFFF"/>
                </a:solidFill>
                <a:latin typeface="Georgia"/>
              </a:rPr>
              <a:t>Cartão</a:t>
            </a:r>
            <a:r>
              <a:rPr sz="2000" b="1" i="0" dirty="0">
                <a:solidFill>
                  <a:srgbClr val="FFFFFF"/>
                </a:solidFill>
                <a:latin typeface="Georgia"/>
              </a:rPr>
              <a:t> de Crédito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" y="7050024"/>
            <a:ext cx="6400800" cy="27432"/>
          </a:xfrm>
          <a:prstGeom prst="rect">
            <a:avLst/>
          </a:prstGeom>
          <a:solidFill>
            <a:srgbClr val="2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" y="7251192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 spc="100" dirty="0">
                <a:solidFill>
                  <a:srgbClr val="E5CC7A"/>
                </a:solidFill>
                <a:latin typeface="Calibri"/>
              </a:rPr>
              <a:t>À VISTA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7507224"/>
            <a:ext cx="21945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Calibri"/>
              </a:rPr>
              <a:t>{{OP2_AVISTA}}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7251192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 spc="100" dirty="0">
                <a:solidFill>
                  <a:srgbClr val="E5CC7A"/>
                </a:solidFill>
                <a:latin typeface="Calibri"/>
              </a:rPr>
              <a:t>PARCELADO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7507224"/>
            <a:ext cx="21945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 dirty="0" err="1">
                <a:solidFill>
                  <a:srgbClr val="FFFFFF"/>
                </a:solidFill>
                <a:latin typeface="Calibri"/>
              </a:rPr>
              <a:t>{{OP2_ATE_PARCELAS}}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7251192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 spc="100" dirty="0">
                <a:solidFill>
                  <a:srgbClr val="E5CC7A"/>
                </a:solidFill>
                <a:latin typeface="Calibri"/>
              </a:rPr>
              <a:t>SEM JUROS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7507224"/>
            <a:ext cx="21945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Calibri"/>
              </a:rPr>
              <a:t>{{OP2_VALOR_PARCELA}}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" y="8211312"/>
            <a:ext cx="6400800" cy="27432"/>
          </a:xfrm>
          <a:prstGeom prst="rect">
            <a:avLst/>
          </a:prstGeom>
          <a:solidFill>
            <a:srgbClr val="2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1792" y="8348472"/>
            <a:ext cx="6400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 dirty="0">
                <a:solidFill>
                  <a:srgbClr val="8899AA"/>
                </a:solidFill>
                <a:latin typeface="Calibri"/>
              </a:rPr>
              <a:t>{{OP2_ECONOMIA_LONGA}}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/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/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/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/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/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/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/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/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/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/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/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/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/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/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/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" y="9098280"/>
            <a:ext cx="6400800" cy="27432"/>
          </a:xfrm>
          <a:prstGeom prst="rect">
            <a:avLst/>
          </a:prstGeom>
          <a:solidFill>
            <a:srgbClr val="2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9262872"/>
            <a:ext cx="292608" cy="29260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33272" y="9244584"/>
            <a:ext cx="2834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 dirty="0" err="1">
                <a:solidFill>
                  <a:srgbClr val="8899AA"/>
                </a:solidFill>
                <a:latin typeface="Calibri"/>
              </a:rPr>
              <a:t>Melhor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custo-benefício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desta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proposta</a:t>
            </a:r>
            <a:endParaRPr sz="1400" b="0" i="0" dirty="0">
              <a:solidFill>
                <a:srgbClr val="8899AA"/>
              </a:solidFill>
              <a:latin typeface="Calibri"/>
            </a:endParaRPr>
          </a:p>
        </p:txBody>
      </p:sp>
      <p:pic>
        <p:nvPicPr>
          <p:cNvPr id="43" name="Picture 42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352" y="9262872"/>
            <a:ext cx="292608" cy="29260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370832" y="9244584"/>
            <a:ext cx="2834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 dirty="0" err="1">
                <a:solidFill>
                  <a:srgbClr val="8899AA"/>
                </a:solidFill>
                <a:latin typeface="Calibri"/>
              </a:rPr>
              <a:t>{{OP2_PARCELAS_SEM_JUROS}}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/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/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/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/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/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/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/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/>
            </a:r>
            <a:endParaRPr sz="1400" b="0" i="0" dirty="0">
              <a:solidFill>
                <a:srgbClr val="8899AA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84048" y="10341864"/>
            <a:ext cx="6793992" cy="1828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84048" y="10369296"/>
            <a:ext cx="6793992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 dirty="0" err="1">
                <a:solidFill>
                  <a:srgbClr val="8899AA"/>
                </a:solidFill>
                <a:latin typeface="Calibri"/>
              </a:rPr>
              <a:t>BlindSafe</a:t>
            </a:r>
            <a:r>
              <a:rPr sz="11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8899AA"/>
                </a:solidFill>
                <a:latin typeface="Calibri"/>
              </a:rPr>
              <a:t>Soluções</a:t>
            </a:r>
            <a:r>
              <a:rPr sz="11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8899AA"/>
                </a:solidFill>
                <a:latin typeface="Calibri"/>
              </a:rPr>
              <a:t>Financeiras</a:t>
            </a:r>
            <a:r>
              <a:rPr sz="1100" b="0" i="0" dirty="0">
                <a:solidFill>
                  <a:srgbClr val="8899AA"/>
                </a:solidFill>
                <a:latin typeface="Calibri"/>
              </a:rPr>
              <a:t>  |  contato@blindsafe.com.br  |  (21) 3437-5022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1371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7562088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6793992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Opção 01 — Boleto Bancário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95528"/>
            <a:ext cx="6793992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 dirty="0" err="1">
                <a:solidFill>
                  <a:srgbClr val="8899AA"/>
                </a:solidFill>
                <a:latin typeface="Calibri"/>
              </a:rPr>
              <a:t>Parcelamento</a:t>
            </a:r>
            <a:r>
              <a:rPr sz="1200" b="0" i="0" dirty="0">
                <a:solidFill>
                  <a:srgbClr val="8899AA"/>
                </a:solidFill>
                <a:latin typeface="Calibri"/>
              </a:rPr>
              <a:t> mensal </a:t>
            </a:r>
            <a:r>
              <a:rPr sz="1200" b="0" i="0" dirty="0" err="1">
                <a:solidFill>
                  <a:srgbClr val="8899AA"/>
                </a:solidFill>
                <a:latin typeface="Calibri"/>
              </a:rPr>
              <a:t>sem</a:t>
            </a:r>
            <a:r>
              <a:rPr sz="12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8899AA"/>
                </a:solidFill>
                <a:latin typeface="Calibri"/>
              </a:rPr>
              <a:t>complicações</a:t>
            </a:r>
            <a:r>
              <a:rPr sz="1200" b="0" i="0" dirty="0">
                <a:solidFill>
                  <a:srgbClr val="8899AA"/>
                </a:solidFill>
                <a:latin typeface="Calibri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572768"/>
            <a:ext cx="6793992" cy="2331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572768"/>
            <a:ext cx="6793992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810512"/>
            <a:ext cx="6400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 spc="150" dirty="0">
                <a:solidFill>
                  <a:srgbClr val="C9A84C"/>
                </a:solidFill>
                <a:latin typeface="Calibri"/>
              </a:rPr>
              <a:t>VALOR TOTAL DOS HONORÁRIOS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5943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200" b="1" i="0" dirty="0">
                <a:solidFill>
                  <a:srgbClr val="FFFFFF"/>
                </a:solidFill>
                <a:latin typeface="Calibri"/>
              </a:rPr>
              <a:t>{{OP1_VALOR_TOTAL}}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44368"/>
            <a:ext cx="5943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 dirty="0" err="1">
                <a:solidFill>
                  <a:srgbClr val="8899AA"/>
                </a:solidFill>
                <a:latin typeface="Calibri"/>
              </a:rPr>
              <a:t>Honorários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para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representação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e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negociação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dívida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judicial.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4160520"/>
            <a:ext cx="6793992" cy="1892807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4048" y="4160520"/>
            <a:ext cx="50292" cy="1892807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4416552"/>
            <a:ext cx="6400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 spc="150" dirty="0">
                <a:solidFill>
                  <a:srgbClr val="C9A84C"/>
                </a:solidFill>
                <a:latin typeface="Calibri"/>
              </a:rPr>
              <a:t>ENTRADA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727448"/>
            <a:ext cx="59436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 dirty="0">
                <a:solidFill>
                  <a:srgbClr val="0D1B3E"/>
                </a:solidFill>
                <a:latin typeface="Calibri"/>
              </a:rPr>
              <a:t>{{OP1_ENTRADA}}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367528"/>
            <a:ext cx="5943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 dirty="0">
                <a:solidFill>
                  <a:srgbClr val="5A6070"/>
                </a:solidFill>
                <a:latin typeface="Calibri"/>
              </a:rPr>
              <a:t>Para </a:t>
            </a:r>
            <a:r>
              <a:rPr sz="1600" b="0" i="0" dirty="0" err="1">
                <a:solidFill>
                  <a:srgbClr val="5A6070"/>
                </a:solidFill>
                <a:latin typeface="Calibri"/>
              </a:rPr>
              <a:t>início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A6070"/>
                </a:solidFill>
                <a:latin typeface="Calibri"/>
              </a:rPr>
              <a:t>imediato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 dos </a:t>
            </a:r>
            <a:r>
              <a:rPr sz="1600" b="0" i="0" dirty="0" err="1">
                <a:solidFill>
                  <a:srgbClr val="5A6070"/>
                </a:solidFill>
                <a:latin typeface="Calibri"/>
              </a:rPr>
              <a:t>trabalhos</a:t>
            </a:r>
            <a:endParaRPr sz="1600" b="0" i="0" dirty="0">
              <a:solidFill>
                <a:srgbClr val="5A6070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84048" y="6217920"/>
            <a:ext cx="6793992" cy="1892807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6217920"/>
            <a:ext cx="50292" cy="1892807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6473952"/>
            <a:ext cx="6400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 spc="150" dirty="0">
                <a:solidFill>
                  <a:srgbClr val="C9A84C"/>
                </a:solidFill>
                <a:latin typeface="Calibri"/>
              </a:rPr>
              <a:t>PARCELAS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784848"/>
            <a:ext cx="59436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 dirty="0">
                <a:solidFill>
                  <a:srgbClr val="0D1B3E"/>
                </a:solidFill>
                <a:latin typeface="Calibri"/>
              </a:rPr>
              <a:t>{{OP1_PARCELAS}}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7424927"/>
            <a:ext cx="5943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 dirty="0" err="1">
                <a:solidFill>
                  <a:srgbClr val="5A6070"/>
                </a:solidFill>
                <a:latin typeface="Calibri"/>
              </a:rPr>
              <a:t>Mensais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 via </a:t>
            </a:r>
            <a:r>
              <a:rPr sz="1600" b="0" i="0" dirty="0" err="1">
                <a:solidFill>
                  <a:srgbClr val="5A6070"/>
                </a:solidFill>
                <a:latin typeface="Calibri"/>
              </a:rPr>
              <a:t>boleto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A6070"/>
                </a:solidFill>
                <a:latin typeface="Calibri"/>
              </a:rPr>
              <a:t>bancário</a:t>
            </a:r>
            <a:endParaRPr sz="1600" b="0" i="0" dirty="0">
              <a:solidFill>
                <a:srgbClr val="5A6070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84048" y="8275320"/>
            <a:ext cx="6793992" cy="1892807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84048" y="8275320"/>
            <a:ext cx="50292" cy="1892807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" y="8531352"/>
            <a:ext cx="6400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 spc="150" dirty="0">
                <a:solidFill>
                  <a:srgbClr val="C9A84C"/>
                </a:solidFill>
                <a:latin typeface="Calibri"/>
              </a:rPr>
              <a:t>TOTAL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8842248"/>
            <a:ext cx="59436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 dirty="0">
                <a:solidFill>
                  <a:srgbClr val="0D1B3E"/>
                </a:solidFill>
                <a:latin typeface="Calibri"/>
              </a:rPr>
              <a:t>{{OP1_VALOR_TOTAL}}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9482328"/>
            <a:ext cx="5943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 dirty="0">
                <a:solidFill>
                  <a:srgbClr val="5A6070"/>
                </a:solidFill>
                <a:latin typeface="Calibri"/>
              </a:rPr>
              <a:t>Sem </a:t>
            </a:r>
            <a:r>
              <a:rPr sz="1600" b="0" i="0" dirty="0" err="1">
                <a:solidFill>
                  <a:srgbClr val="5A6070"/>
                </a:solidFill>
                <a:latin typeface="Calibri"/>
              </a:rPr>
              <a:t>juros</a:t>
            </a:r>
            <a:r>
              <a:rPr sz="16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A6070"/>
                </a:solidFill>
                <a:latin typeface="Calibri"/>
              </a:rPr>
              <a:t>adicionais</a:t>
            </a:r>
            <a:endParaRPr sz="1600" b="0" i="0" dirty="0">
              <a:solidFill>
                <a:srgbClr val="5A6070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84048" y="10341864"/>
            <a:ext cx="6793992" cy="1828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4048" y="10369296"/>
            <a:ext cx="6793992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0">
                <a:solidFill>
                  <a:srgbClr val="8899AA"/>
                </a:solidFill>
                <a:latin typeface="Calibri"/>
              </a:rPr>
              <a:t>BlindSafe Soluções Financeiras  |  contato@blindsafe.com.br  |  (21) 3437-5022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200400" y="-1828800"/>
            <a:ext cx="6400800" cy="6400800"/>
          </a:xfrm>
          <a:prstGeom prst="ellipse">
            <a:avLst/>
          </a:prstGeom>
          <a:solidFill>
            <a:srgbClr val="18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411480"/>
            <a:ext cx="6793992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 spc="250" dirty="0">
                <a:solidFill>
                  <a:srgbClr val="C9A84C"/>
                </a:solidFill>
                <a:latin typeface="Calibri"/>
              </a:rPr>
              <a:t>OPÇÃO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04088"/>
            <a:ext cx="6793992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300" b="0" i="0">
                <a:solidFill>
                  <a:srgbClr val="FFFFFF"/>
                </a:solidFill>
                <a:latin typeface="Georgia"/>
              </a:rPr>
              <a:t>Pagamento via Cartão</a:t>
            </a:r>
          </a:p>
          <a:p>
            <a:pPr algn="l">
              <a:spcBef>
                <a:spcPts val="300"/>
              </a:spcBef>
            </a:pPr>
            <a:r>
              <a:rPr sz="3300" b="1" i="0">
                <a:solidFill>
                  <a:srgbClr val="C9A84C"/>
                </a:solidFill>
                <a:latin typeface="Georgia"/>
              </a:rPr>
              <a:t>de Crédito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901952"/>
            <a:ext cx="3264408" cy="2834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084831"/>
            <a:ext cx="3081527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 spc="150" dirty="0">
                <a:solidFill>
                  <a:srgbClr val="0D1B3E"/>
                </a:solidFill>
                <a:latin typeface="Calibri"/>
              </a:rPr>
              <a:t>À VISTA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3081527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 dirty="0">
                <a:solidFill>
                  <a:srgbClr val="0D1B3E"/>
                </a:solidFill>
                <a:latin typeface="Calibri"/>
              </a:rPr>
              <a:t>{{OP2_AVISTA}}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90672"/>
            <a:ext cx="3081527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 dirty="0">
                <a:solidFill>
                  <a:srgbClr val="0D1B3E"/>
                </a:solidFill>
                <a:latin typeface="Calibri"/>
              </a:rPr>
              <a:t>com </a:t>
            </a:r>
            <a:r>
              <a:rPr sz="1400" b="0" i="0" dirty="0" err="1">
                <a:solidFill>
                  <a:srgbClr val="0D1B3E"/>
                </a:solidFill>
                <a:latin typeface="Calibri"/>
              </a:rPr>
              <a:t>desconto</a:t>
            </a:r>
            <a:r>
              <a:rPr sz="1400" b="0" i="0" dirty="0">
                <a:solidFill>
                  <a:srgbClr val="0D1B3E"/>
                </a:solidFill>
                <a:latin typeface="Calibri"/>
              </a:rPr>
              <a:t> especial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429000"/>
            <a:ext cx="2971800" cy="274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3493008"/>
            <a:ext cx="3081527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 dirty="0">
                <a:solidFill>
                  <a:srgbClr val="0D1B3E"/>
                </a:solidFill>
                <a:latin typeface="Calibri"/>
              </a:rPr>
              <a:t>{{OP2_ECONOMIA_CURTA}}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85615"/>
            <a:ext cx="3081527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 dirty="0" err="1">
                <a:solidFill>
                  <a:srgbClr val="0D1B3E"/>
                </a:solidFill>
                <a:latin typeface="Calibri"/>
              </a:rPr>
              <a:t>em</a:t>
            </a:r>
            <a:r>
              <a:rPr sz="1400" b="0" i="0" dirty="0">
                <a:solidFill>
                  <a:srgbClr val="0D1B3E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0D1B3E"/>
                </a:solidFill>
                <a:latin typeface="Calibri"/>
              </a:rPr>
              <a:t>relação</a:t>
            </a:r>
            <a:r>
              <a:rPr sz="1400" b="0" i="0" dirty="0">
                <a:solidFill>
                  <a:srgbClr val="0D1B3E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0D1B3E"/>
                </a:solidFill>
                <a:latin typeface="Calibri"/>
              </a:rPr>
              <a:t>ao</a:t>
            </a:r>
            <a:r>
              <a:rPr sz="1400" b="0" i="0" dirty="0">
                <a:solidFill>
                  <a:srgbClr val="0D1B3E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0D1B3E"/>
                </a:solidFill>
                <a:latin typeface="Calibri"/>
              </a:rPr>
              <a:t>parcelado</a:t>
            </a:r>
            <a:r>
              <a:rPr sz="1400" b="0" i="0" dirty="0">
                <a:solidFill>
                  <a:srgbClr val="0D1B3E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0D1B3E"/>
                </a:solidFill>
                <a:latin typeface="Calibri"/>
              </a:rPr>
              <a:t>por</a:t>
            </a:r>
            <a:r>
              <a:rPr sz="1400" b="0" i="0" dirty="0">
                <a:solidFill>
                  <a:srgbClr val="0D1B3E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0D1B3E"/>
                </a:solidFill>
                <a:latin typeface="Calibri"/>
              </a:rPr>
              <a:t>boleto</a:t>
            </a:r>
            <a:endParaRPr sz="1400" b="0" i="0" dirty="0">
              <a:solidFill>
                <a:srgbClr val="0D1B3E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785615" y="1901952"/>
            <a:ext cx="3392424" cy="2834640"/>
          </a:xfrm>
          <a:prstGeom prst="rect">
            <a:avLst/>
          </a:prstGeom>
          <a:solidFill>
            <a:srgbClr val="132447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785615" y="1901952"/>
            <a:ext cx="50292" cy="2834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86783" y="2084831"/>
            <a:ext cx="311810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 spc="100" dirty="0">
                <a:solidFill>
                  <a:srgbClr val="C9A84C"/>
                </a:solidFill>
                <a:latin typeface="Calibri"/>
              </a:rPr>
              <a:t>PARCELADO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86783" y="2377440"/>
            <a:ext cx="311810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 dirty="0" err="1">
                <a:solidFill>
                  <a:srgbClr val="8899AA"/>
                </a:solidFill>
                <a:latin typeface="Calibri"/>
              </a:rPr>
              <a:t>{{OP2_ATE_PARCELAS}}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86783" y="2688336"/>
            <a:ext cx="3118104" cy="6035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{{OP2_VALOR_PARCELA}}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6783" y="3328416"/>
            <a:ext cx="311810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 dirty="0" err="1">
                <a:solidFill>
                  <a:srgbClr val="8899AA"/>
                </a:solidFill>
                <a:latin typeface="Calibri"/>
              </a:rPr>
              <a:t>sem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juros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adicionais</a:t>
            </a:r>
            <a:endParaRPr sz="1400" b="0" i="0" dirty="0">
              <a:solidFill>
                <a:srgbClr val="8899AA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986783" y="3639312"/>
            <a:ext cx="3118104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 dirty="0">
                <a:solidFill>
                  <a:srgbClr val="8899AA"/>
                </a:solidFill>
                <a:latin typeface="Calibri"/>
              </a:rPr>
              <a:t>{{OP2_TOTAL}}
{{OP2_PARCELAS_MENSAIS}}</a:t>
            </a:r>
            <a:r>
              <a:rPr sz="1100" b="0" i="0" dirty="0">
                <a:solidFill>
                  <a:srgbClr val="8899AA"/>
                </a:solidFill>
                <a:latin typeface="Calibri"/>
              </a:rPr>
              <a:t/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/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/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/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/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/>
            </a:r>
            <a:endParaRPr sz="1400" b="0" i="0" dirty="0">
              <a:solidFill>
                <a:srgbClr val="8899AA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84048" y="4928616"/>
            <a:ext cx="6793992" cy="1243584"/>
          </a:xfrm>
          <a:prstGeom prst="rect">
            <a:avLst/>
          </a:prstGeom>
          <a:solidFill>
            <a:srgbClr val="132447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349240"/>
            <a:ext cx="438912" cy="43891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88720" y="5413248"/>
            <a:ext cx="5897880" cy="9875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dirty="0" err="1">
                <a:solidFill>
                  <a:srgbClr val="FFFFFF"/>
                </a:solidFill>
                <a:latin typeface="Calibri"/>
              </a:rPr>
              <a:t>Início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imediato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 dos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trabalhos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após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confirmação</a:t>
            </a:r>
            <a:endParaRPr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84048" y="6281927"/>
            <a:ext cx="6793992" cy="1243584"/>
          </a:xfrm>
          <a:prstGeom prst="rect">
            <a:avLst/>
          </a:prstGeom>
          <a:solidFill>
            <a:srgbClr val="132447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702551"/>
            <a:ext cx="438912" cy="43891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88720" y="6775703"/>
            <a:ext cx="5897880" cy="9875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dirty="0">
                <a:solidFill>
                  <a:srgbClr val="FFFFFF"/>
                </a:solidFill>
                <a:latin typeface="Calibri"/>
              </a:rPr>
              <a:t>Maior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flexibilidade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 no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planejamento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financeiro</a:t>
            </a:r>
            <a:endParaRPr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84048" y="7635240"/>
            <a:ext cx="6793992" cy="1243584"/>
          </a:xfrm>
          <a:prstGeom prst="rect">
            <a:avLst/>
          </a:prstGeom>
          <a:solidFill>
            <a:srgbClr val="132447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055864"/>
            <a:ext cx="438912" cy="43891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88720" y="8110031"/>
            <a:ext cx="5897880" cy="9875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dirty="0" err="1">
                <a:solidFill>
                  <a:srgbClr val="FFFFFF"/>
                </a:solidFill>
                <a:latin typeface="Calibri"/>
              </a:rPr>
              <a:t>Melhor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custo-benefício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desta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proposta</a:t>
            </a:r>
            <a:endParaRPr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84048" y="8988551"/>
            <a:ext cx="6793992" cy="1243584"/>
          </a:xfrm>
          <a:prstGeom prst="rect">
            <a:avLst/>
          </a:prstGeom>
          <a:solidFill>
            <a:srgbClr val="132447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9409176"/>
            <a:ext cx="438912" cy="43891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43000" y="9444359"/>
            <a:ext cx="5897880" cy="9875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dirty="0" err="1">
                <a:solidFill>
                  <a:srgbClr val="FFFFFF"/>
                </a:solidFill>
                <a:latin typeface="Calibri"/>
              </a:rPr>
              <a:t>Aprovação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rápida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,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sem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burocracia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adicional</a:t>
            </a:r>
            <a:endParaRPr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84048" y="10341864"/>
            <a:ext cx="6793992" cy="1828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4048" y="10369296"/>
            <a:ext cx="6793992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 dirty="0" err="1">
                <a:solidFill>
                  <a:srgbClr val="8899AA"/>
                </a:solidFill>
                <a:latin typeface="Calibri"/>
              </a:rPr>
              <a:t>BlindSafe</a:t>
            </a:r>
            <a:r>
              <a:rPr sz="11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8899AA"/>
                </a:solidFill>
                <a:latin typeface="Calibri"/>
              </a:rPr>
              <a:t>Soluções</a:t>
            </a:r>
            <a:r>
              <a:rPr sz="11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8899AA"/>
                </a:solidFill>
                <a:latin typeface="Calibri"/>
              </a:rPr>
              <a:t>Financeiras</a:t>
            </a:r>
            <a:r>
              <a:rPr sz="1100" b="0" i="0" dirty="0">
                <a:solidFill>
                  <a:srgbClr val="8899AA"/>
                </a:solidFill>
                <a:latin typeface="Calibri"/>
              </a:rPr>
              <a:t>  |  contato@blindsafe.com.br  |  (21) 3437-5022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1371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7562088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6793992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700" b="1" i="0" dirty="0">
                <a:solidFill>
                  <a:srgbClr val="FFFFFF"/>
                </a:solidFill>
                <a:latin typeface="Georgia"/>
              </a:rPr>
              <a:t>Por </a:t>
            </a:r>
            <a:r>
              <a:rPr sz="2700" b="1" i="0" dirty="0" err="1">
                <a:solidFill>
                  <a:srgbClr val="FFFFFF"/>
                </a:solidFill>
                <a:latin typeface="Georgia"/>
              </a:rPr>
              <a:t>Que</a:t>
            </a:r>
            <a:r>
              <a:rPr sz="2700" b="1" i="0" dirty="0">
                <a:solidFill>
                  <a:srgbClr val="FFFFFF"/>
                </a:solidFill>
                <a:latin typeface="Georgia"/>
              </a:rPr>
              <a:t> Nos </a:t>
            </a:r>
            <a:r>
              <a:rPr sz="2700" b="1" i="0" dirty="0" err="1">
                <a:solidFill>
                  <a:srgbClr val="FFFFFF"/>
                </a:solidFill>
                <a:latin typeface="Georgia"/>
              </a:rPr>
              <a:t>Escolher</a:t>
            </a:r>
            <a:r>
              <a:rPr sz="2700" b="1" i="0" dirty="0">
                <a:solidFill>
                  <a:srgbClr val="FFFFFF"/>
                </a:solidFill>
                <a:latin typeface="Georgia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95528"/>
            <a:ext cx="6793992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 dirty="0" err="1">
                <a:solidFill>
                  <a:srgbClr val="8899AA"/>
                </a:solidFill>
                <a:latin typeface="Calibri"/>
              </a:rPr>
              <a:t>Comprometidos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com a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excelência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em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cada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etapa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572768"/>
            <a:ext cx="3264408" cy="3694176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572768"/>
            <a:ext cx="3264408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66928" y="1865376"/>
            <a:ext cx="868680" cy="86868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2064258"/>
            <a:ext cx="438912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" y="2898648"/>
            <a:ext cx="30632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 dirty="0" err="1">
                <a:solidFill>
                  <a:srgbClr val="0D1B3E"/>
                </a:solidFill>
                <a:latin typeface="Georgia"/>
              </a:rPr>
              <a:t>Segurança</a:t>
            </a:r>
            <a:r>
              <a:rPr sz="1600" b="1" i="0" dirty="0">
                <a:solidFill>
                  <a:srgbClr val="0D1B3E"/>
                </a:solidFill>
                <a:latin typeface="Georgia"/>
              </a:rPr>
              <a:t> </a:t>
            </a:r>
            <a:r>
              <a:rPr sz="1600" b="1" i="0" dirty="0" err="1">
                <a:solidFill>
                  <a:srgbClr val="0D1B3E"/>
                </a:solidFill>
                <a:latin typeface="Georgia"/>
              </a:rPr>
              <a:t>Financeira</a:t>
            </a:r>
            <a:endParaRPr sz="1600" b="1" i="0" dirty="0">
              <a:solidFill>
                <a:srgbClr val="0D1B3E"/>
              </a:solidFill>
              <a:latin typeface="Georgi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0352" y="3383280"/>
            <a:ext cx="7315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3538728"/>
            <a:ext cx="3063239" cy="1600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 dirty="0" err="1">
                <a:solidFill>
                  <a:srgbClr val="5A6070"/>
                </a:solidFill>
                <a:latin typeface="Calibri"/>
              </a:rPr>
              <a:t>Atuação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técnica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e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segura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baseada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em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sólidos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conhecimentos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financeiros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e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experiência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comprovada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em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casos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similares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13048" y="1572768"/>
            <a:ext cx="3264408" cy="3694176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13048" y="1572768"/>
            <a:ext cx="3264408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995928" y="1865376"/>
            <a:ext cx="868680" cy="86868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812" y="2080260"/>
            <a:ext cx="438912" cy="4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959352" y="2898648"/>
            <a:ext cx="30632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 dirty="0" err="1">
                <a:solidFill>
                  <a:srgbClr val="0D1B3E"/>
                </a:solidFill>
                <a:latin typeface="Georgia"/>
              </a:rPr>
              <a:t>Atendimento</a:t>
            </a:r>
            <a:r>
              <a:rPr sz="1600" b="1" i="0" dirty="0">
                <a:solidFill>
                  <a:srgbClr val="0D1B3E"/>
                </a:solidFill>
                <a:latin typeface="Georgia"/>
              </a:rPr>
              <a:t> </a:t>
            </a:r>
            <a:r>
              <a:rPr sz="1600" b="1" i="0" dirty="0" err="1">
                <a:solidFill>
                  <a:srgbClr val="0D1B3E"/>
                </a:solidFill>
                <a:latin typeface="Georgia"/>
              </a:rPr>
              <a:t>Humanizado</a:t>
            </a:r>
            <a:endParaRPr sz="1600" b="1" i="0" dirty="0">
              <a:solidFill>
                <a:srgbClr val="0D1B3E"/>
              </a:solidFill>
              <a:latin typeface="Georgia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959352" y="3383280"/>
            <a:ext cx="7315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59352" y="3538728"/>
            <a:ext cx="3063239" cy="1600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 dirty="0" err="1">
                <a:solidFill>
                  <a:srgbClr val="5A6070"/>
                </a:solidFill>
                <a:latin typeface="Calibri"/>
              </a:rPr>
              <a:t>Atendimento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personalizado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compreendendo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as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necessidades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cada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cliente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com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comunicação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constante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e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transparente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5431536"/>
            <a:ext cx="3264408" cy="3694176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4048" y="5431536"/>
            <a:ext cx="3264408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66928" y="5724144"/>
            <a:ext cx="868680" cy="86868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5939028"/>
            <a:ext cx="438912" cy="43891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0352" y="6757416"/>
            <a:ext cx="30632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 dirty="0" err="1">
                <a:solidFill>
                  <a:srgbClr val="0D1B3E"/>
                </a:solidFill>
                <a:latin typeface="Georgia"/>
              </a:rPr>
              <a:t>Ética</a:t>
            </a:r>
            <a:r>
              <a:rPr sz="1600" b="1" i="0" dirty="0">
                <a:solidFill>
                  <a:srgbClr val="0D1B3E"/>
                </a:solidFill>
                <a:latin typeface="Georgia"/>
              </a:rPr>
              <a:t> e </a:t>
            </a:r>
            <a:r>
              <a:rPr sz="1600" b="1" i="0" dirty="0" err="1">
                <a:solidFill>
                  <a:srgbClr val="0D1B3E"/>
                </a:solidFill>
                <a:latin typeface="Georgia"/>
              </a:rPr>
              <a:t>Responsabilidade</a:t>
            </a:r>
            <a:endParaRPr sz="1600" b="1" i="0" dirty="0">
              <a:solidFill>
                <a:srgbClr val="0D1B3E"/>
              </a:solidFill>
              <a:latin typeface="Georgia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30352" y="7242048"/>
            <a:ext cx="7315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7397496"/>
            <a:ext cx="3063239" cy="1600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 dirty="0">
                <a:solidFill>
                  <a:srgbClr val="5A6070"/>
                </a:solidFill>
                <a:latin typeface="Calibri"/>
              </a:rPr>
              <a:t>Trabalho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pautado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pelos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mais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altos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padrões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éticos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, com total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transparência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e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comprometimento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absoluto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com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seus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direitos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3048" y="5431536"/>
            <a:ext cx="3264408" cy="3694176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13048" y="5431536"/>
            <a:ext cx="3264408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995928" y="5724144"/>
            <a:ext cx="868680" cy="86868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0812" y="5939028"/>
            <a:ext cx="438912" cy="43891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959352" y="6757416"/>
            <a:ext cx="30632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 dirty="0" err="1">
                <a:solidFill>
                  <a:srgbClr val="0D1B3E"/>
                </a:solidFill>
                <a:latin typeface="Georgia"/>
              </a:rPr>
              <a:t>Acompanhamento</a:t>
            </a:r>
            <a:r>
              <a:rPr sz="1600" b="1" i="0" dirty="0">
                <a:solidFill>
                  <a:srgbClr val="0D1B3E"/>
                </a:solidFill>
                <a:latin typeface="Georgia"/>
              </a:rPr>
              <a:t> Digital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59352" y="7242048"/>
            <a:ext cx="7315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59352" y="7397496"/>
            <a:ext cx="3063239" cy="1600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 dirty="0" err="1">
                <a:solidFill>
                  <a:srgbClr val="5A6070"/>
                </a:solidFill>
                <a:latin typeface="Calibri"/>
              </a:rPr>
              <a:t>Acompanhe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sua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negociação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faturas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e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propostas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em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tempo real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pelo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nosso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aplicativo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exclusivo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 para </a:t>
            </a:r>
            <a:r>
              <a:rPr sz="1400" b="0" i="0" dirty="0" err="1">
                <a:solidFill>
                  <a:srgbClr val="5A6070"/>
                </a:solidFill>
                <a:latin typeface="Calibri"/>
              </a:rPr>
              <a:t>clientes</a:t>
            </a:r>
            <a:r>
              <a:rPr sz="1400" b="0" i="0" dirty="0">
                <a:solidFill>
                  <a:srgbClr val="5A6070"/>
                </a:solidFill>
                <a:latin typeface="Calibri"/>
              </a:rPr>
              <a:t>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" y="9308592"/>
            <a:ext cx="6793992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4048" y="9308592"/>
            <a:ext cx="6793992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 dirty="0" err="1">
                <a:solidFill>
                  <a:srgbClr val="C9A84C"/>
                </a:solidFill>
                <a:latin typeface="Calibri"/>
              </a:rPr>
              <a:t>Assessoria</a:t>
            </a:r>
            <a:r>
              <a:rPr sz="1400" b="0" i="0" dirty="0">
                <a:solidFill>
                  <a:srgbClr val="C9A84C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C9A84C"/>
                </a:solidFill>
                <a:latin typeface="Calibri"/>
              </a:rPr>
              <a:t>jurídica</a:t>
            </a:r>
            <a:r>
              <a:rPr sz="1400" b="0" i="0" dirty="0">
                <a:solidFill>
                  <a:srgbClr val="C9A84C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C9A84C"/>
                </a:solidFill>
                <a:latin typeface="Calibri"/>
              </a:rPr>
              <a:t>combativa</a:t>
            </a:r>
            <a:r>
              <a:rPr sz="1400" b="0" i="0" dirty="0">
                <a:solidFill>
                  <a:srgbClr val="C9A84C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C9A84C"/>
                </a:solidFill>
                <a:latin typeface="Calibri"/>
              </a:rPr>
              <a:t>humanizada</a:t>
            </a:r>
            <a:r>
              <a:rPr sz="1400" b="0" i="0" dirty="0">
                <a:solidFill>
                  <a:srgbClr val="C9A84C"/>
                </a:solidFill>
                <a:latin typeface="Calibri"/>
              </a:rPr>
              <a:t> e </a:t>
            </a:r>
            <a:r>
              <a:rPr sz="1400" b="0" i="0" dirty="0" err="1">
                <a:solidFill>
                  <a:srgbClr val="C9A84C"/>
                </a:solidFill>
                <a:latin typeface="Calibri"/>
              </a:rPr>
              <a:t>transparente</a:t>
            </a:r>
            <a:endParaRPr sz="1400" b="0" i="0" dirty="0">
              <a:solidFill>
                <a:srgbClr val="C9A84C"/>
              </a:solidFill>
              <a:latin typeface="Calibr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84048" y="10341864"/>
            <a:ext cx="6793992" cy="1828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4048" y="10369296"/>
            <a:ext cx="6793992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 dirty="0" err="1">
                <a:solidFill>
                  <a:srgbClr val="8899AA"/>
                </a:solidFill>
                <a:latin typeface="Calibri"/>
              </a:rPr>
              <a:t>BlindSafe</a:t>
            </a:r>
            <a:r>
              <a:rPr sz="11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8899AA"/>
                </a:solidFill>
                <a:latin typeface="Calibri"/>
              </a:rPr>
              <a:t>Soluções</a:t>
            </a:r>
            <a:r>
              <a:rPr sz="11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8899AA"/>
                </a:solidFill>
                <a:latin typeface="Calibri"/>
              </a:rPr>
              <a:t>Financeiras</a:t>
            </a:r>
            <a:r>
              <a:rPr sz="1100" b="0" i="0" dirty="0">
                <a:solidFill>
                  <a:srgbClr val="8899AA"/>
                </a:solidFill>
                <a:latin typeface="Calibri"/>
              </a:rPr>
              <a:t>  |  contato@blindsafe.com.br  |  (21) 3437-5022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0" y="-2286000"/>
            <a:ext cx="7315200" cy="7315200"/>
          </a:xfrm>
          <a:prstGeom prst="ellipse">
            <a:avLst/>
          </a:prstGeom>
          <a:solidFill>
            <a:srgbClr val="18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4048" y="411480"/>
            <a:ext cx="2606040" cy="310896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411480"/>
            <a:ext cx="26060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 spc="100" dirty="0">
                <a:solidFill>
                  <a:srgbClr val="0D1B3E"/>
                </a:solidFill>
                <a:latin typeface="Calibri"/>
              </a:rPr>
              <a:t>CONSIDERAÇÕES FINAIS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932688"/>
            <a:ext cx="6793992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0" i="0">
                <a:solidFill>
                  <a:srgbClr val="FFFFFF"/>
                </a:solidFill>
                <a:latin typeface="Georgia"/>
              </a:rPr>
              <a:t>Nosso Compromisso</a:t>
            </a:r>
          </a:p>
          <a:p>
            <a:pPr algn="l">
              <a:spcBef>
                <a:spcPts val="300"/>
              </a:spcBef>
            </a:pPr>
            <a:r>
              <a:rPr sz="3600" b="1" i="0">
                <a:solidFill>
                  <a:srgbClr val="C9A84C"/>
                </a:solidFill>
                <a:latin typeface="Georgia"/>
              </a:rPr>
              <a:t>com Você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2212848"/>
            <a:ext cx="6793992" cy="27432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2359152"/>
            <a:ext cx="6793992" cy="2286000"/>
          </a:xfrm>
          <a:prstGeom prst="rect">
            <a:avLst/>
          </a:prstGeom>
          <a:solidFill>
            <a:srgbClr val="132447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2359152"/>
            <a:ext cx="50292" cy="228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2542032"/>
            <a:ext cx="6400800" cy="1920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 dirty="0" err="1">
                <a:solidFill>
                  <a:srgbClr val="8899AA"/>
                </a:solidFill>
                <a:latin typeface="Calibri"/>
              </a:rPr>
              <a:t>Oferecemos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uma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consultoria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combativa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humanizada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e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transparente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.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Nosso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objetivo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é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garantir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o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melhor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acordo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possível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e a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redução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de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encargos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indevidos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, com total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ética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e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responsabilidade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.
Estamos à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sua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inteira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disposição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para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quaisquer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dúvidas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ou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899AA"/>
                </a:solidFill>
                <a:latin typeface="Calibri"/>
              </a:rPr>
              <a:t>esclarecimentos</a:t>
            </a:r>
            <a:r>
              <a:rPr sz="1600" b="0" i="0" dirty="0">
                <a:solidFill>
                  <a:srgbClr val="8899AA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4892040"/>
            <a:ext cx="6793992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 spc="250" dirty="0">
                <a:solidFill>
                  <a:srgbClr val="C9A84C"/>
                </a:solidFill>
                <a:latin typeface="Calibri"/>
              </a:rPr>
              <a:t>CONTATO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5285232"/>
            <a:ext cx="6793992" cy="1316736"/>
          </a:xfrm>
          <a:prstGeom prst="rect">
            <a:avLst/>
          </a:prstGeom>
          <a:solidFill>
            <a:srgbClr val="132447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4048" y="5285232"/>
            <a:ext cx="50292" cy="131673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5413248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 spc="150" dirty="0" err="1">
                <a:solidFill>
                  <a:srgbClr val="C9A84C"/>
                </a:solidFill>
                <a:latin typeface="Calibri"/>
              </a:rPr>
              <a:t>Atendimento</a:t>
            </a:r>
            <a:r>
              <a:rPr sz="1200" b="1" i="0" spc="150" dirty="0">
                <a:solidFill>
                  <a:srgbClr val="C9A84C"/>
                </a:solidFill>
                <a:latin typeface="Calibri"/>
              </a:rPr>
              <a:t> </a:t>
            </a:r>
            <a:r>
              <a:rPr sz="1200" b="1" i="0" spc="150" dirty="0" err="1">
                <a:solidFill>
                  <a:srgbClr val="C9A84C"/>
                </a:solidFill>
                <a:latin typeface="Calibri"/>
              </a:rPr>
              <a:t>Imediato</a:t>
            </a:r>
            <a:endParaRPr sz="1200" b="1" i="0" spc="150" dirty="0">
              <a:solidFill>
                <a:srgbClr val="C9A84C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1792" y="5669280"/>
            <a:ext cx="6400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Calibri"/>
              </a:rPr>
              <a:t>(21) 3437-5022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108192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 dirty="0">
                <a:solidFill>
                  <a:srgbClr val="8899AA"/>
                </a:solidFill>
                <a:latin typeface="Calibri"/>
              </a:rPr>
              <a:t>WhatsApp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disponível</a:t>
            </a:r>
            <a:endParaRPr sz="1400" b="0" i="0" dirty="0">
              <a:solidFill>
                <a:srgbClr val="8899AA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4048" y="6766560"/>
            <a:ext cx="6793992" cy="1316736"/>
          </a:xfrm>
          <a:prstGeom prst="rect">
            <a:avLst/>
          </a:prstGeom>
          <a:solidFill>
            <a:srgbClr val="132447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84048" y="6766560"/>
            <a:ext cx="50292" cy="131673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894576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 spc="150" dirty="0">
                <a:solidFill>
                  <a:srgbClr val="C9A84C"/>
                </a:solidFill>
                <a:latin typeface="Calibri"/>
              </a:rPr>
              <a:t>E-mail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7150608"/>
            <a:ext cx="6400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Calibri"/>
              </a:rPr>
              <a:t>contato@blindsafe.com.br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758952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 dirty="0" err="1">
                <a:solidFill>
                  <a:srgbClr val="8899AA"/>
                </a:solidFill>
                <a:latin typeface="Calibri"/>
              </a:rPr>
              <a:t>Resposta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em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até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24 horas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8247888"/>
            <a:ext cx="6793992" cy="1316736"/>
          </a:xfrm>
          <a:prstGeom prst="rect">
            <a:avLst/>
          </a:prstGeom>
          <a:solidFill>
            <a:srgbClr val="132447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84048" y="8247888"/>
            <a:ext cx="50292" cy="131673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" y="8375904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 spc="150" dirty="0" err="1">
                <a:solidFill>
                  <a:srgbClr val="C9A84C"/>
                </a:solidFill>
                <a:latin typeface="Calibri"/>
              </a:rPr>
              <a:t>Aplicativo</a:t>
            </a:r>
            <a:endParaRPr sz="1200" b="1" i="0" spc="150" dirty="0">
              <a:solidFill>
                <a:srgbClr val="C9A84C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1792" y="8631936"/>
            <a:ext cx="6400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Calibri"/>
              </a:rPr>
              <a:t>Link privado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enviado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1792" y="9070848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 dirty="0" err="1">
                <a:solidFill>
                  <a:srgbClr val="8899AA"/>
                </a:solidFill>
                <a:latin typeface="Calibri"/>
              </a:rPr>
              <a:t>Após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início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dos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trabalhos</a:t>
            </a:r>
            <a:endParaRPr sz="1400" b="0" i="0" dirty="0">
              <a:solidFill>
                <a:srgbClr val="8899AA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84048" y="10149840"/>
            <a:ext cx="6793992" cy="27432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4048" y="10222992"/>
            <a:ext cx="679399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 dirty="0" err="1">
                <a:solidFill>
                  <a:srgbClr val="8899AA"/>
                </a:solidFill>
                <a:latin typeface="Calibri"/>
              </a:rPr>
              <a:t>Atenciosamente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, Equipe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BlindSafe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Soluções</a:t>
            </a:r>
            <a:r>
              <a:rPr sz="1400" b="0" i="0" dirty="0">
                <a:solidFill>
                  <a:srgbClr val="8899A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8899AA"/>
                </a:solidFill>
                <a:latin typeface="Calibri"/>
              </a:rPr>
              <a:t>Financeiras</a:t>
            </a:r>
            <a:endParaRPr sz="1400" b="0" i="0" dirty="0">
              <a:solidFill>
                <a:srgbClr val="8899AA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772</Words>
  <Application>Microsoft Office PowerPoint</Application>
  <PresentationFormat>Personalizar</PresentationFormat>
  <Paragraphs>138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Paulo Ricardo</cp:lastModifiedBy>
  <cp:revision>3</cp:revision>
  <dcterms:created xsi:type="dcterms:W3CDTF">2013-01-27T09:14:16Z</dcterms:created>
  <dcterms:modified xsi:type="dcterms:W3CDTF">2026-04-30T16:26:16Z</dcterms:modified>
  <cp:category/>
</cp:coreProperties>
</file>